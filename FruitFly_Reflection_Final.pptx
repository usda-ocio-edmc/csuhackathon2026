
<file path=[Content_Types].xml><?xml version="1.0" encoding="utf-8"?>
<Types xmlns="http://schemas.openxmlformats.org/package/2006/content-types">
  <Default Extension="gif" ContentType="image/gif"/>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256" r:id="rId5"/>
    <p:sldId id="258" r:id="rId6"/>
    <p:sldId id="259" r:id="rId7"/>
    <p:sldId id="260" r:id="rId8"/>
    <p:sldId id="261" r:id="rId9"/>
    <p:sldId id="262" r:id="rId10"/>
    <p:sldId id="263" r:id="rId11"/>
    <p:sldId id="264" r:id="rId12"/>
    <p:sldId id="265" r:id="rId13"/>
    <p:sldId id="269" r:id="rId14"/>
    <p:sldId id="266" r:id="rId15"/>
    <p:sldId id="267" r:id="rId16"/>
    <p:sldId id="268"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70A38F-DE7C-3D74-0041-87D64A23E787}" v="216" dt="2026-04-25T22:47:05.915"/>
    <p1510:client id="{D9A802BD-2E9A-4E03-9FAB-353590A675CD}" v="8" dt="2026-04-25T23:07:44.5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44" d="100"/>
          <a:sy n="144" d="100"/>
        </p:scale>
        <p:origin x="120" y="1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Detections</c:v>
                </c:pt>
              </c:strCache>
            </c:strRef>
          </c:tx>
          <c:spPr>
            <a:solidFill>
              <a:srgbClr val="1E2761"/>
            </a:solidFill>
            <a:effectLst/>
          </c:spPr>
          <c:invertIfNegative val="0"/>
          <c:cat>
            <c:strRef>
              <c:f>Sheet1!$A$2:$A$5</c:f>
              <c:strCache>
                <c:ptCount val="4"/>
                <c:pt idx="0">
                  <c:v>California</c:v>
                </c:pt>
                <c:pt idx="1">
                  <c:v>Texas</c:v>
                </c:pt>
                <c:pt idx="2">
                  <c:v>Florida</c:v>
                </c:pt>
                <c:pt idx="3">
                  <c:v>Other</c:v>
                </c:pt>
              </c:strCache>
            </c:strRef>
          </c:cat>
          <c:val>
            <c:numRef>
              <c:f>Sheet1!$B$2:$B$5</c:f>
              <c:numCache>
                <c:formatCode>General</c:formatCode>
                <c:ptCount val="4"/>
                <c:pt idx="0">
                  <c:v>128</c:v>
                </c:pt>
                <c:pt idx="1">
                  <c:v>95</c:v>
                </c:pt>
                <c:pt idx="2">
                  <c:v>42</c:v>
                </c:pt>
                <c:pt idx="3">
                  <c:v>40</c:v>
                </c:pt>
              </c:numCache>
            </c:numRef>
          </c:val>
          <c:extLst>
            <c:ext xmlns:c16="http://schemas.microsoft.com/office/drawing/2014/chart" uri="{C3380CC4-5D6E-409C-BE32-E72D297353CC}">
              <c16:uniqueId val="{00000000-0B3D-459E-B74A-B0E3A4A88EA8}"/>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761"/>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5CDB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E2761"/>
                </a:solidFill>
                <a:latin typeface="Calibri"/>
              </a:defRPr>
            </a:pPr>
            <a:endParaRPr lang="en-US"/>
          </a:p>
        </c:txPr>
        <c:crossAx val="2094734554"/>
        <c:crosses val="autoZero"/>
        <c:crossBetween val="between"/>
      </c:valAx>
      <c:spPr>
        <a:solidFill>
          <a:srgbClr val="F1EAD8"/>
        </a:solidFill>
        <a:ln>
          <a:noFill/>
        </a:ln>
        <a:effectLst/>
      </c:spPr>
    </c:plotArea>
    <c:plotVisOnly val="1"/>
    <c:dispBlanksAs val="span"/>
    <c:showDLblsOverMax val="1"/>
  </c:chart>
  <c:spPr>
    <a:solidFill>
      <a:srgbClr val="F1EAD8"/>
    </a:solidFill>
    <a:ln w="12700" cap="flat">
      <a:solidFill>
        <a:srgbClr val="F1EAD8"/>
      </a:solid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3719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04F7F-DF01-F9A7-228D-9344B9575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0ABAA5-99C6-E611-290C-083378A90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481E55-41F1-0E70-0AB3-1EF16EBB27C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3DA1A6E-FE52-7416-4B51-4D02E6473383}"/>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2336030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EAD8"/>
        </a:solidFill>
        <a:effectLst/>
      </p:bgPr>
    </p:bg>
    <p:spTree>
      <p:nvGrpSpPr>
        <p:cNvPr id="1" name=""/>
        <p:cNvGrpSpPr/>
        <p:nvPr/>
      </p:nvGrpSpPr>
      <p:grpSpPr>
        <a:xfrm>
          <a:off x="0" y="0"/>
          <a:ext cx="0" cy="0"/>
          <a:chOff x="0" y="0"/>
          <a:chExt cx="0" cy="0"/>
        </a:xfrm>
      </p:grpSpPr>
      <p:sp>
        <p:nvSpPr>
          <p:cNvPr id="2" name="Shape 0"/>
          <p:cNvSpPr/>
          <p:nvPr/>
        </p:nvSpPr>
        <p:spPr>
          <a:xfrm>
            <a:off x="8686800" y="365760"/>
            <a:ext cx="320040" cy="4434840"/>
          </a:xfrm>
          <a:prstGeom prst="rect">
            <a:avLst/>
          </a:prstGeom>
          <a:solidFill>
            <a:srgbClr val="1A2253"/>
          </a:solidFill>
          <a:ln w="12700">
            <a:solidFill>
              <a:srgbClr val="1A2253"/>
            </a:solidFill>
            <a:prstDash val="solid"/>
          </a:ln>
        </p:spPr>
        <p:txBody>
          <a:bodyPr/>
          <a:lstStyle/>
          <a:p>
            <a:endParaRPr lang="en-US"/>
          </a:p>
        </p:txBody>
      </p:sp>
      <p:sp>
        <p:nvSpPr>
          <p:cNvPr id="4" name="Text 2"/>
          <p:cNvSpPr/>
          <p:nvPr/>
        </p:nvSpPr>
        <p:spPr>
          <a:xfrm>
            <a:off x="502920" y="1188720"/>
            <a:ext cx="7955280" cy="822960"/>
          </a:xfrm>
          <a:prstGeom prst="rect">
            <a:avLst/>
          </a:prstGeom>
          <a:noFill/>
          <a:ln/>
        </p:spPr>
        <p:txBody>
          <a:bodyPr wrap="square" lIns="0" tIns="0" rIns="0" bIns="0" rtlCol="0" anchor="ctr"/>
          <a:lstStyle/>
          <a:p>
            <a:pPr marL="0" indent="0">
              <a:buNone/>
            </a:pPr>
            <a:r>
              <a:rPr lang="en-US" sz="6000" b="1" kern="0" spc="200" dirty="0">
                <a:solidFill>
                  <a:srgbClr val="1E2761"/>
                </a:solidFill>
                <a:latin typeface="Arial Black" pitchFamily="34" charset="0"/>
                <a:ea typeface="Arial Black" pitchFamily="34" charset="-122"/>
                <a:cs typeface="Arial Black" pitchFamily="34" charset="-120"/>
              </a:rPr>
              <a:t>FRUIT FLY</a:t>
            </a:r>
            <a:endParaRPr lang="en-US" sz="6000" dirty="0"/>
          </a:p>
        </p:txBody>
      </p:sp>
      <p:sp>
        <p:nvSpPr>
          <p:cNvPr id="5" name="Text 3"/>
          <p:cNvSpPr/>
          <p:nvPr/>
        </p:nvSpPr>
        <p:spPr>
          <a:xfrm>
            <a:off x="502920" y="1965960"/>
            <a:ext cx="7955280" cy="822960"/>
          </a:xfrm>
          <a:prstGeom prst="rect">
            <a:avLst/>
          </a:prstGeom>
          <a:noFill/>
          <a:ln/>
        </p:spPr>
        <p:txBody>
          <a:bodyPr wrap="square" lIns="0" tIns="0" rIns="0" bIns="0" rtlCol="0" anchor="ctr"/>
          <a:lstStyle/>
          <a:p>
            <a:pPr marL="0" indent="0">
              <a:buNone/>
            </a:pPr>
            <a:r>
              <a:rPr lang="en-US" sz="6000" b="1" kern="0" spc="200" dirty="0">
                <a:solidFill>
                  <a:srgbClr val="1E2761"/>
                </a:solidFill>
                <a:latin typeface="Arial Black" pitchFamily="34" charset="0"/>
                <a:ea typeface="Arial Black" pitchFamily="34" charset="-122"/>
                <a:cs typeface="Arial Black" pitchFamily="34" charset="-120"/>
              </a:rPr>
              <a:t>REFLECTION</a:t>
            </a:r>
            <a:endParaRPr lang="en-US" sz="6000" dirty="0"/>
          </a:p>
        </p:txBody>
      </p:sp>
      <p:sp>
        <p:nvSpPr>
          <p:cNvPr id="6" name="Shape 4"/>
          <p:cNvSpPr/>
          <p:nvPr/>
        </p:nvSpPr>
        <p:spPr>
          <a:xfrm>
            <a:off x="502920" y="3154680"/>
            <a:ext cx="4114800" cy="457200"/>
          </a:xfrm>
          <a:prstGeom prst="roundRect">
            <a:avLst>
              <a:gd name="adj" fmla="val 50000"/>
            </a:avLst>
          </a:prstGeom>
          <a:solidFill>
            <a:srgbClr val="F1EAD8"/>
          </a:solidFill>
          <a:ln w="25400">
            <a:solidFill>
              <a:srgbClr val="1E2761"/>
            </a:solidFill>
            <a:prstDash val="solid"/>
          </a:ln>
        </p:spPr>
        <p:txBody>
          <a:bodyPr/>
          <a:lstStyle/>
          <a:p>
            <a:endParaRPr lang="en-US"/>
          </a:p>
        </p:txBody>
      </p:sp>
      <p:sp>
        <p:nvSpPr>
          <p:cNvPr id="7" name="Text 5"/>
          <p:cNvSpPr/>
          <p:nvPr/>
        </p:nvSpPr>
        <p:spPr>
          <a:xfrm>
            <a:off x="502920" y="3154680"/>
            <a:ext cx="4114800" cy="457200"/>
          </a:xfrm>
          <a:prstGeom prst="rect">
            <a:avLst/>
          </a:prstGeom>
          <a:noFill/>
          <a:ln/>
        </p:spPr>
        <p:txBody>
          <a:bodyPr wrap="square" lIns="0" tIns="0" rIns="0" bIns="0" rtlCol="0" anchor="ctr"/>
          <a:lstStyle/>
          <a:p>
            <a:pPr marL="0" indent="0" algn="ctr">
              <a:buNone/>
            </a:pPr>
            <a:r>
              <a:rPr lang="en-US" sz="1400" dirty="0">
                <a:solidFill>
                  <a:srgbClr val="1E2761"/>
                </a:solidFill>
                <a:latin typeface="Calibri" pitchFamily="34" charset="0"/>
                <a:ea typeface="Calibri" pitchFamily="34" charset="-122"/>
                <a:cs typeface="Calibri" pitchFamily="34" charset="-120"/>
              </a:rPr>
              <a:t>Slade Hernandez, Kyle Johnson, Nuri Shawesh</a:t>
            </a:r>
            <a:endParaRPr lang="en-US" sz="1400" dirty="0"/>
          </a:p>
        </p:txBody>
      </p:sp>
      <p:sp>
        <p:nvSpPr>
          <p:cNvPr id="8" name="Text 6"/>
          <p:cNvSpPr/>
          <p:nvPr/>
        </p:nvSpPr>
        <p:spPr>
          <a:xfrm>
            <a:off x="502920" y="4297680"/>
            <a:ext cx="4572000" cy="365760"/>
          </a:xfrm>
          <a:prstGeom prst="rect">
            <a:avLst/>
          </a:prstGeom>
          <a:noFill/>
          <a:ln/>
        </p:spPr>
        <p:txBody>
          <a:bodyPr wrap="square" lIns="0" tIns="0" rIns="0" bIns="0" rtlCol="0" anchor="ctr"/>
          <a:lstStyle/>
          <a:p>
            <a:pPr marL="0" indent="0">
              <a:buNone/>
            </a:pPr>
            <a:r>
              <a:rPr lang="en-US" sz="1600" dirty="0">
                <a:solidFill>
                  <a:srgbClr val="1E2761"/>
                </a:solidFill>
                <a:latin typeface="Calibri" pitchFamily="34" charset="0"/>
                <a:ea typeface="Calibri" pitchFamily="34" charset="-122"/>
                <a:cs typeface="Calibri" pitchFamily="34" charset="-120"/>
              </a:rPr>
              <a:t>CSU Hackathon 2026 Sponsored by USDA &amp; NASA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1EAD8"/>
        </a:solidFill>
        <a:effectLst/>
      </p:bgPr>
    </p:bg>
    <p:spTree>
      <p:nvGrpSpPr>
        <p:cNvPr id="1" name=""/>
        <p:cNvGrpSpPr/>
        <p:nvPr/>
      </p:nvGrpSpPr>
      <p:grpSpPr>
        <a:xfrm>
          <a:off x="0" y="0"/>
          <a:ext cx="0" cy="0"/>
          <a:chOff x="0" y="0"/>
          <a:chExt cx="0" cy="0"/>
        </a:xfrm>
      </p:grpSpPr>
      <p:sp>
        <p:nvSpPr>
          <p:cNvPr id="2" name="Shape 0"/>
          <p:cNvSpPr/>
          <p:nvPr/>
        </p:nvSpPr>
        <p:spPr>
          <a:xfrm>
            <a:off x="8686800" y="365760"/>
            <a:ext cx="320040" cy="4434840"/>
          </a:xfrm>
          <a:prstGeom prst="rect">
            <a:avLst/>
          </a:prstGeom>
          <a:solidFill>
            <a:srgbClr val="1A2253"/>
          </a:solidFill>
          <a:ln w="12700">
            <a:solidFill>
              <a:srgbClr val="1A2253"/>
            </a:solidFill>
            <a:prstDash val="solid"/>
          </a:ln>
        </p:spPr>
        <p:txBody>
          <a:bodyPr/>
          <a:lstStyle/>
          <a:p>
            <a:endParaRPr lang="en-US"/>
          </a:p>
        </p:txBody>
      </p:sp>
      <p:sp>
        <p:nvSpPr>
          <p:cNvPr id="3" name="Text 1"/>
          <p:cNvSpPr/>
          <p:nvPr/>
        </p:nvSpPr>
        <p:spPr>
          <a:xfrm>
            <a:off x="502920" y="640080"/>
            <a:ext cx="4754880" cy="822960"/>
          </a:xfrm>
          <a:prstGeom prst="rect">
            <a:avLst/>
          </a:prstGeom>
          <a:noFill/>
          <a:ln/>
        </p:spPr>
        <p:txBody>
          <a:bodyPr wrap="square" lIns="0" tIns="0" rIns="0" bIns="0" rtlCol="0" anchor="ctr"/>
          <a:lstStyle/>
          <a:p>
            <a:pPr marL="0" indent="0">
              <a:buNone/>
            </a:pPr>
            <a:r>
              <a:rPr lang="en-US" sz="4400" b="1" kern="0" spc="100" dirty="0">
                <a:solidFill>
                  <a:srgbClr val="1E2761"/>
                </a:solidFill>
                <a:latin typeface="Arial Black" pitchFamily="34" charset="0"/>
                <a:ea typeface="Arial Black" pitchFamily="34" charset="-122"/>
                <a:cs typeface="Arial Black" pitchFamily="34" charset="-120"/>
              </a:rPr>
              <a:t>THE CHOICE</a:t>
            </a:r>
            <a:endParaRPr lang="en-US" sz="4400" dirty="0"/>
          </a:p>
        </p:txBody>
      </p:sp>
      <p:sp>
        <p:nvSpPr>
          <p:cNvPr id="5" name="Text 3"/>
          <p:cNvSpPr/>
          <p:nvPr/>
        </p:nvSpPr>
        <p:spPr>
          <a:xfrm>
            <a:off x="502920" y="2194560"/>
            <a:ext cx="4754880" cy="2286000"/>
          </a:xfrm>
          <a:prstGeom prst="rect">
            <a:avLst/>
          </a:prstGeom>
          <a:noFill/>
          <a:ln/>
        </p:spPr>
        <p:txBody>
          <a:bodyPr wrap="square" lIns="0" tIns="0" rIns="0" bIns="0" rtlCol="0" anchor="ctr"/>
          <a:lstStyle/>
          <a:p>
            <a:pPr marL="0" indent="0">
              <a:spcAft>
                <a:spcPts val="600"/>
              </a:spcAft>
              <a:buNone/>
            </a:pPr>
            <a:r>
              <a:rPr lang="en-US" sz="1300" dirty="0">
                <a:solidFill>
                  <a:srgbClr val="1E2761"/>
                </a:solidFill>
                <a:latin typeface="Calibri" pitchFamily="34" charset="0"/>
                <a:ea typeface="Calibri" pitchFamily="34" charset="-122"/>
                <a:cs typeface="Calibri" pitchFamily="34" charset="-120"/>
              </a:rPr>
              <a:t>Two USDA challenges were on the table: a satellite-based crop yield forecasting pipeline using NASA's Prithvi model, and a geospatial risk analysis for fruit fly entry pathways. We chose the fruit fly prompt. It was the right call, and the rest of this deck explains why and what we learned in the process.</a:t>
            </a:r>
            <a:endParaRPr lang="en-US" sz="1300" dirty="0"/>
          </a:p>
        </p:txBody>
      </p:sp>
      <p:sp>
        <p:nvSpPr>
          <p:cNvPr id="6" name="Shape 4"/>
          <p:cNvSpPr/>
          <p:nvPr/>
        </p:nvSpPr>
        <p:spPr>
          <a:xfrm>
            <a:off x="5577840" y="914400"/>
            <a:ext cx="2926080" cy="3291840"/>
          </a:xfrm>
          <a:prstGeom prst="rect">
            <a:avLst/>
          </a:prstGeom>
          <a:solidFill>
            <a:srgbClr val="F1EAD8"/>
          </a:solidFill>
          <a:ln w="25400">
            <a:solidFill>
              <a:srgbClr val="1E2761"/>
            </a:solidFill>
            <a:prstDash val="solid"/>
          </a:ln>
        </p:spPr>
        <p:txBody>
          <a:bodyPr/>
          <a:lstStyle/>
          <a:p>
            <a:endParaRPr lang="en-US"/>
          </a:p>
        </p:txBody>
      </p:sp>
      <p:sp>
        <p:nvSpPr>
          <p:cNvPr id="7" name="Text 5"/>
          <p:cNvSpPr/>
          <p:nvPr/>
        </p:nvSpPr>
        <p:spPr>
          <a:xfrm>
            <a:off x="5715000" y="1097280"/>
            <a:ext cx="2651760" cy="365760"/>
          </a:xfrm>
          <a:prstGeom prst="rect">
            <a:avLst/>
          </a:prstGeom>
          <a:noFill/>
          <a:ln/>
        </p:spPr>
        <p:txBody>
          <a:bodyPr wrap="square" lIns="0" tIns="0" rIns="0" bIns="0" rtlCol="0" anchor="ctr"/>
          <a:lstStyle/>
          <a:p>
            <a:pPr marL="0" indent="0">
              <a:buNone/>
            </a:pPr>
            <a:r>
              <a:rPr lang="en-US" sz="1100" b="1" kern="0" spc="300" dirty="0">
                <a:solidFill>
                  <a:srgbClr val="1E2761"/>
                </a:solidFill>
                <a:latin typeface="Calibri" pitchFamily="34" charset="0"/>
                <a:ea typeface="Calibri" pitchFamily="34" charset="-122"/>
                <a:cs typeface="Calibri" pitchFamily="34" charset="-120"/>
              </a:rPr>
              <a:t>THE CHALLENGE WE PICKED</a:t>
            </a:r>
            <a:endParaRPr lang="en-US" sz="1100" dirty="0"/>
          </a:p>
        </p:txBody>
      </p:sp>
      <p:sp>
        <p:nvSpPr>
          <p:cNvPr id="8" name="Text 6"/>
          <p:cNvSpPr/>
          <p:nvPr/>
        </p:nvSpPr>
        <p:spPr>
          <a:xfrm>
            <a:off x="5715000" y="1554480"/>
            <a:ext cx="2651760" cy="548640"/>
          </a:xfrm>
          <a:prstGeom prst="rect">
            <a:avLst/>
          </a:prstGeom>
          <a:noFill/>
          <a:ln/>
        </p:spPr>
        <p:txBody>
          <a:bodyPr wrap="square" lIns="0" tIns="0" rIns="0" bIns="0" rtlCol="0" anchor="ctr"/>
          <a:lstStyle/>
          <a:p>
            <a:pPr marL="0" indent="0">
              <a:buNone/>
            </a:pPr>
            <a:r>
              <a:rPr lang="en-US" sz="2800" b="1" dirty="0">
                <a:solidFill>
                  <a:srgbClr val="1E2761"/>
                </a:solidFill>
                <a:latin typeface="Arial Black" pitchFamily="34" charset="0"/>
                <a:ea typeface="Arial Black" pitchFamily="34" charset="-122"/>
                <a:cs typeface="Arial Black" pitchFamily="34" charset="-120"/>
              </a:rPr>
              <a:t>Fruit Fly</a:t>
            </a:r>
            <a:endParaRPr lang="en-US" sz="2800" dirty="0"/>
          </a:p>
        </p:txBody>
      </p:sp>
      <p:sp>
        <p:nvSpPr>
          <p:cNvPr id="9" name="Text 7"/>
          <p:cNvSpPr/>
          <p:nvPr/>
        </p:nvSpPr>
        <p:spPr>
          <a:xfrm>
            <a:off x="5715000" y="2148840"/>
            <a:ext cx="2651760" cy="457200"/>
          </a:xfrm>
          <a:prstGeom prst="rect">
            <a:avLst/>
          </a:prstGeom>
          <a:noFill/>
          <a:ln/>
        </p:spPr>
        <p:txBody>
          <a:bodyPr wrap="square" lIns="0" tIns="0" rIns="0" bIns="0" rtlCol="0" anchor="ctr"/>
          <a:lstStyle/>
          <a:p>
            <a:pPr marL="0" indent="0">
              <a:buNone/>
            </a:pPr>
            <a:r>
              <a:rPr lang="en-US" sz="2200" b="1" dirty="0">
                <a:solidFill>
                  <a:srgbClr val="1E2761"/>
                </a:solidFill>
                <a:latin typeface="Arial Black" pitchFamily="34" charset="0"/>
                <a:ea typeface="Arial Black" pitchFamily="34" charset="-122"/>
                <a:cs typeface="Arial Black" pitchFamily="34" charset="-120"/>
              </a:rPr>
              <a:t>Exclusion &amp; Detection</a:t>
            </a:r>
            <a:endParaRPr lang="en-US" sz="2200" dirty="0"/>
          </a:p>
        </p:txBody>
      </p:sp>
      <p:sp>
        <p:nvSpPr>
          <p:cNvPr id="10" name="Shape 8"/>
          <p:cNvSpPr/>
          <p:nvPr/>
        </p:nvSpPr>
        <p:spPr>
          <a:xfrm>
            <a:off x="5715000" y="2743200"/>
            <a:ext cx="1828800" cy="0"/>
          </a:xfrm>
          <a:prstGeom prst="line">
            <a:avLst/>
          </a:prstGeom>
          <a:noFill/>
          <a:ln w="25400">
            <a:solidFill>
              <a:srgbClr val="1E2761"/>
            </a:solidFill>
            <a:prstDash val="solid"/>
          </a:ln>
        </p:spPr>
        <p:txBody>
          <a:bodyPr/>
          <a:lstStyle/>
          <a:p>
            <a:endParaRPr lang="en-US"/>
          </a:p>
        </p:txBody>
      </p:sp>
      <p:sp>
        <p:nvSpPr>
          <p:cNvPr id="11" name="Text 9"/>
          <p:cNvSpPr/>
          <p:nvPr/>
        </p:nvSpPr>
        <p:spPr>
          <a:xfrm>
            <a:off x="5715000" y="2880360"/>
            <a:ext cx="2651760" cy="1280160"/>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Geospatial visualization, risk pathway analysis, and data-driven recommendations for inspection prioritization.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1EAD8"/>
        </a:solidFill>
        <a:effectLst/>
      </p:bgPr>
    </p:bg>
    <p:spTree>
      <p:nvGrpSpPr>
        <p:cNvPr id="1" name=""/>
        <p:cNvGrpSpPr/>
        <p:nvPr/>
      </p:nvGrpSpPr>
      <p:grpSpPr>
        <a:xfrm>
          <a:off x="0" y="0"/>
          <a:ext cx="0" cy="0"/>
          <a:chOff x="0" y="0"/>
          <a:chExt cx="0" cy="0"/>
        </a:xfrm>
      </p:grpSpPr>
      <p:sp>
        <p:nvSpPr>
          <p:cNvPr id="2" name="Shape 0"/>
          <p:cNvSpPr/>
          <p:nvPr/>
        </p:nvSpPr>
        <p:spPr>
          <a:xfrm>
            <a:off x="8686800" y="365760"/>
            <a:ext cx="320040" cy="4434840"/>
          </a:xfrm>
          <a:prstGeom prst="rect">
            <a:avLst/>
          </a:prstGeom>
          <a:solidFill>
            <a:srgbClr val="1A2253"/>
          </a:solidFill>
          <a:ln w="12700">
            <a:solidFill>
              <a:srgbClr val="1A2253"/>
            </a:solidFill>
            <a:prstDash val="solid"/>
          </a:ln>
        </p:spPr>
        <p:txBody>
          <a:bodyPr/>
          <a:lstStyle/>
          <a:p>
            <a:endParaRPr lang="en-US"/>
          </a:p>
        </p:txBody>
      </p:sp>
      <p:sp>
        <p:nvSpPr>
          <p:cNvPr id="3" name="Text 1"/>
          <p:cNvSpPr/>
          <p:nvPr/>
        </p:nvSpPr>
        <p:spPr>
          <a:xfrm>
            <a:off x="502920" y="1371600"/>
            <a:ext cx="7955280" cy="914400"/>
          </a:xfrm>
          <a:prstGeom prst="rect">
            <a:avLst/>
          </a:prstGeom>
          <a:noFill/>
          <a:ln/>
        </p:spPr>
        <p:txBody>
          <a:bodyPr wrap="square" lIns="0" tIns="0" rIns="0" bIns="0" rtlCol="0" anchor="ctr"/>
          <a:lstStyle/>
          <a:p>
            <a:pPr marL="0" indent="0" algn="ctr">
              <a:buNone/>
            </a:pPr>
            <a:r>
              <a:rPr lang="en-US" sz="4400" b="1" kern="0" spc="100" dirty="0">
                <a:solidFill>
                  <a:srgbClr val="1E2761"/>
                </a:solidFill>
                <a:latin typeface="Arial Black" pitchFamily="34" charset="0"/>
                <a:ea typeface="Arial Black" pitchFamily="34" charset="-122"/>
                <a:cs typeface="Arial Black" pitchFamily="34" charset="-120"/>
              </a:rPr>
              <a:t>OUR REASONING</a:t>
            </a:r>
            <a:endParaRPr lang="en-US" sz="4400" dirty="0"/>
          </a:p>
        </p:txBody>
      </p:sp>
      <p:sp>
        <p:nvSpPr>
          <p:cNvPr id="4" name="Text 2"/>
          <p:cNvSpPr/>
          <p:nvPr/>
        </p:nvSpPr>
        <p:spPr>
          <a:xfrm>
            <a:off x="1371600" y="2468880"/>
            <a:ext cx="6217920" cy="2103120"/>
          </a:xfrm>
          <a:prstGeom prst="rect">
            <a:avLst/>
          </a:prstGeom>
          <a:noFill/>
          <a:ln/>
        </p:spPr>
        <p:txBody>
          <a:bodyPr wrap="square" lIns="0" tIns="0" rIns="0" bIns="0" rtlCol="0" anchor="ctr"/>
          <a:lstStyle/>
          <a:p>
            <a:pPr marL="0" indent="0" algn="ctr">
              <a:spcAft>
                <a:spcPts val="600"/>
              </a:spcAft>
              <a:buNone/>
            </a:pPr>
            <a:r>
              <a:rPr lang="en-US" sz="1400" dirty="0">
                <a:solidFill>
                  <a:srgbClr val="1E2761"/>
                </a:solidFill>
                <a:latin typeface="Calibri" pitchFamily="34" charset="0"/>
                <a:ea typeface="Calibri" pitchFamily="34" charset="-122"/>
                <a:cs typeface="Calibri" pitchFamily="34" charset="-120"/>
              </a:rPr>
              <a:t>Our team did not have a deep CS background. The crop yield prompt required Prithvi fine-tuning, satellite preprocessing, and a full ML pipeline; we would have not even known where to get started. The fruit fly prompt rewarded domain insight, geospatial visualization, and clear communication, none of which strictly required ML. We picked the path where we could best explain our journey and assign any ML work as a reach goal.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1EAD8"/>
        </a:solidFill>
        <a:effectLst/>
      </p:bgPr>
    </p:bg>
    <p:spTree>
      <p:nvGrpSpPr>
        <p:cNvPr id="1" name=""/>
        <p:cNvGrpSpPr/>
        <p:nvPr/>
      </p:nvGrpSpPr>
      <p:grpSpPr>
        <a:xfrm>
          <a:off x="0" y="0"/>
          <a:ext cx="0" cy="0"/>
          <a:chOff x="0" y="0"/>
          <a:chExt cx="0" cy="0"/>
        </a:xfrm>
      </p:grpSpPr>
      <p:sp>
        <p:nvSpPr>
          <p:cNvPr id="2" name="Shape 0"/>
          <p:cNvSpPr/>
          <p:nvPr/>
        </p:nvSpPr>
        <p:spPr>
          <a:xfrm>
            <a:off x="8686800" y="365760"/>
            <a:ext cx="320040" cy="4434840"/>
          </a:xfrm>
          <a:prstGeom prst="rect">
            <a:avLst/>
          </a:prstGeom>
          <a:solidFill>
            <a:srgbClr val="1A2253"/>
          </a:solidFill>
          <a:ln w="12700">
            <a:solidFill>
              <a:srgbClr val="1A2253"/>
            </a:solidFill>
            <a:prstDash val="solid"/>
          </a:ln>
        </p:spPr>
        <p:txBody>
          <a:bodyPr/>
          <a:lstStyle/>
          <a:p>
            <a:endParaRPr lang="en-US"/>
          </a:p>
        </p:txBody>
      </p:sp>
      <p:sp>
        <p:nvSpPr>
          <p:cNvPr id="3" name="Text 1"/>
          <p:cNvSpPr/>
          <p:nvPr/>
        </p:nvSpPr>
        <p:spPr>
          <a:xfrm>
            <a:off x="502920" y="502920"/>
            <a:ext cx="3657600" cy="777240"/>
          </a:xfrm>
          <a:prstGeom prst="rect">
            <a:avLst/>
          </a:prstGeom>
          <a:noFill/>
          <a:ln/>
        </p:spPr>
        <p:txBody>
          <a:bodyPr wrap="square" lIns="0" tIns="0" rIns="0" bIns="0" rtlCol="0" anchor="ctr"/>
          <a:lstStyle/>
          <a:p>
            <a:pPr marL="0" indent="0">
              <a:buNone/>
            </a:pPr>
            <a:r>
              <a:rPr lang="en-US" sz="4400" b="1" kern="0" spc="100" dirty="0">
                <a:solidFill>
                  <a:srgbClr val="1E2761"/>
                </a:solidFill>
                <a:latin typeface="Arial Black" pitchFamily="34" charset="0"/>
                <a:ea typeface="Arial Black" pitchFamily="34" charset="-122"/>
                <a:cs typeface="Arial Black" pitchFamily="34" charset="-120"/>
              </a:rPr>
              <a:t>THE</a:t>
            </a:r>
            <a:endParaRPr lang="en-US" sz="4400" dirty="0"/>
          </a:p>
        </p:txBody>
      </p:sp>
      <p:sp>
        <p:nvSpPr>
          <p:cNvPr id="4" name="Text 2"/>
          <p:cNvSpPr/>
          <p:nvPr/>
        </p:nvSpPr>
        <p:spPr>
          <a:xfrm>
            <a:off x="502920" y="1234440"/>
            <a:ext cx="4572000" cy="777240"/>
          </a:xfrm>
          <a:prstGeom prst="rect">
            <a:avLst/>
          </a:prstGeom>
          <a:noFill/>
          <a:ln/>
        </p:spPr>
        <p:txBody>
          <a:bodyPr wrap="square" lIns="0" tIns="0" rIns="0" bIns="0" rtlCol="0" anchor="ctr"/>
          <a:lstStyle/>
          <a:p>
            <a:pPr marL="0" indent="0">
              <a:buNone/>
            </a:pPr>
            <a:r>
              <a:rPr lang="en-US" sz="4400" b="1" kern="0" spc="100" dirty="0">
                <a:solidFill>
                  <a:srgbClr val="1E2761"/>
                </a:solidFill>
                <a:latin typeface="Arial Black" pitchFamily="34" charset="0"/>
                <a:ea typeface="Arial Black" pitchFamily="34" charset="-122"/>
                <a:cs typeface="Arial Black" pitchFamily="34" charset="-120"/>
              </a:rPr>
              <a:t>WORKFLOW</a:t>
            </a:r>
            <a:endParaRPr lang="en-US" sz="4400" dirty="0"/>
          </a:p>
        </p:txBody>
      </p:sp>
      <p:sp>
        <p:nvSpPr>
          <p:cNvPr id="5" name="Text 3"/>
          <p:cNvSpPr/>
          <p:nvPr/>
        </p:nvSpPr>
        <p:spPr>
          <a:xfrm>
            <a:off x="502920" y="2468880"/>
            <a:ext cx="3657600"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Step 1: Access</a:t>
            </a:r>
            <a:endParaRPr lang="en-US" sz="1600" dirty="0"/>
          </a:p>
        </p:txBody>
      </p:sp>
      <p:sp>
        <p:nvSpPr>
          <p:cNvPr id="6" name="Text 4"/>
          <p:cNvSpPr/>
          <p:nvPr/>
        </p:nvSpPr>
        <p:spPr>
          <a:xfrm>
            <a:off x="502920" y="2852928"/>
            <a:ext cx="3657600" cy="777240"/>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Connected to ArcGIS Online via the Python API. Authenticated with hackathon guest credentials, then resolved layer item IDs.</a:t>
            </a:r>
            <a:endParaRPr lang="en-US" sz="1100" dirty="0"/>
          </a:p>
        </p:txBody>
      </p:sp>
      <p:sp>
        <p:nvSpPr>
          <p:cNvPr id="7" name="Text 5"/>
          <p:cNvSpPr/>
          <p:nvPr/>
        </p:nvSpPr>
        <p:spPr>
          <a:xfrm>
            <a:off x="4526280" y="2468880"/>
            <a:ext cx="3657600"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Step 2: Ingest</a:t>
            </a:r>
            <a:endParaRPr lang="en-US" sz="1600" dirty="0"/>
          </a:p>
        </p:txBody>
      </p:sp>
      <p:sp>
        <p:nvSpPr>
          <p:cNvPr id="8" name="Text 6"/>
          <p:cNvSpPr/>
          <p:nvPr/>
        </p:nvSpPr>
        <p:spPr>
          <a:xfrm>
            <a:off x="4526280" y="2852928"/>
            <a:ext cx="3657600" cy="777240"/>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Pulled three feature layers as pandas dataframes: International Segments, Domestic Segments, Fruit Fly Detections.</a:t>
            </a:r>
            <a:endParaRPr lang="en-US" sz="1100" dirty="0"/>
          </a:p>
        </p:txBody>
      </p:sp>
      <p:sp>
        <p:nvSpPr>
          <p:cNvPr id="9" name="Text 7"/>
          <p:cNvSpPr/>
          <p:nvPr/>
        </p:nvSpPr>
        <p:spPr>
          <a:xfrm>
            <a:off x="502920" y="3749040"/>
            <a:ext cx="3657600"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Step 3: Analyze</a:t>
            </a:r>
            <a:endParaRPr lang="en-US" sz="1600" dirty="0"/>
          </a:p>
        </p:txBody>
      </p:sp>
      <p:sp>
        <p:nvSpPr>
          <p:cNvPr id="10" name="Text 8"/>
          <p:cNvSpPr/>
          <p:nvPr/>
        </p:nvSpPr>
        <p:spPr>
          <a:xfrm>
            <a:off x="502920" y="4133088"/>
            <a:ext cx="3657600" cy="777240"/>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Filtered at the source with REST queries. Grouped by country, state, and species. Normalized passenger volumes into risk scores.</a:t>
            </a:r>
            <a:endParaRPr lang="en-US" sz="1100" dirty="0"/>
          </a:p>
        </p:txBody>
      </p:sp>
      <p:sp>
        <p:nvSpPr>
          <p:cNvPr id="11" name="Text 9"/>
          <p:cNvSpPr/>
          <p:nvPr/>
        </p:nvSpPr>
        <p:spPr>
          <a:xfrm>
            <a:off x="4526280" y="3749040"/>
            <a:ext cx="3657600"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Step 4: Visualize</a:t>
            </a:r>
            <a:endParaRPr lang="en-US" sz="1600" dirty="0"/>
          </a:p>
        </p:txBody>
      </p:sp>
      <p:sp>
        <p:nvSpPr>
          <p:cNvPr id="12" name="Text 10"/>
          <p:cNvSpPr/>
          <p:nvPr/>
        </p:nvSpPr>
        <p:spPr>
          <a:xfrm>
            <a:off x="4526280" y="4133088"/>
            <a:ext cx="3657600" cy="777240"/>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Mapped detection counts in ArcGIS Online with sized circles. Built supporting bar charts in Databricks notebooks.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1EAD8"/>
        </a:solidFill>
        <a:effectLst/>
      </p:bgPr>
    </p:bg>
    <p:spTree>
      <p:nvGrpSpPr>
        <p:cNvPr id="1" name=""/>
        <p:cNvGrpSpPr/>
        <p:nvPr/>
      </p:nvGrpSpPr>
      <p:grpSpPr>
        <a:xfrm>
          <a:off x="0" y="0"/>
          <a:ext cx="0" cy="0"/>
          <a:chOff x="0" y="0"/>
          <a:chExt cx="0" cy="0"/>
        </a:xfrm>
      </p:grpSpPr>
      <p:sp>
        <p:nvSpPr>
          <p:cNvPr id="26" name="Shape 4">
            <a:extLst>
              <a:ext uri="{FF2B5EF4-FFF2-40B4-BE49-F238E27FC236}">
                <a16:creationId xmlns:a16="http://schemas.microsoft.com/office/drawing/2014/main" id="{C57A7524-F52C-0399-F2A6-FD25A8FB2ABE}"/>
              </a:ext>
            </a:extLst>
          </p:cNvPr>
          <p:cNvSpPr/>
          <p:nvPr/>
        </p:nvSpPr>
        <p:spPr>
          <a:xfrm>
            <a:off x="5029199" y="845352"/>
            <a:ext cx="1554480" cy="1600200"/>
          </a:xfrm>
          <a:prstGeom prst="rect">
            <a:avLst/>
          </a:prstGeom>
          <a:solidFill>
            <a:srgbClr val="F1EAD8"/>
          </a:solidFill>
          <a:ln w="25400">
            <a:solidFill>
              <a:srgbClr val="1E2761"/>
            </a:solidFill>
            <a:prstDash val="solid"/>
          </a:ln>
        </p:spPr>
        <p:txBody>
          <a:bodyPr/>
          <a:lstStyle/>
          <a:p>
            <a:endParaRPr lang="en-US"/>
          </a:p>
        </p:txBody>
      </p:sp>
      <p:sp>
        <p:nvSpPr>
          <p:cNvPr id="2" name="Shape 0"/>
          <p:cNvSpPr/>
          <p:nvPr/>
        </p:nvSpPr>
        <p:spPr>
          <a:xfrm>
            <a:off x="8686800" y="365760"/>
            <a:ext cx="320040" cy="4434840"/>
          </a:xfrm>
          <a:prstGeom prst="rect">
            <a:avLst/>
          </a:prstGeom>
          <a:solidFill>
            <a:srgbClr val="1A2253"/>
          </a:solidFill>
          <a:ln w="12700">
            <a:solidFill>
              <a:srgbClr val="1A2253"/>
            </a:solidFill>
            <a:prstDash val="solid"/>
          </a:ln>
        </p:spPr>
        <p:txBody>
          <a:bodyPr/>
          <a:lstStyle/>
          <a:p>
            <a:endParaRPr lang="en-US"/>
          </a:p>
        </p:txBody>
      </p:sp>
      <p:sp>
        <p:nvSpPr>
          <p:cNvPr id="3" name="Text 1"/>
          <p:cNvSpPr/>
          <p:nvPr/>
        </p:nvSpPr>
        <p:spPr>
          <a:xfrm>
            <a:off x="502920" y="640080"/>
            <a:ext cx="4114800" cy="777240"/>
          </a:xfrm>
          <a:prstGeom prst="rect">
            <a:avLst/>
          </a:prstGeom>
          <a:noFill/>
          <a:ln/>
        </p:spPr>
        <p:txBody>
          <a:bodyPr wrap="square" lIns="0" tIns="0" rIns="0" bIns="0" rtlCol="0" anchor="ctr"/>
          <a:lstStyle/>
          <a:p>
            <a:pPr marL="0" indent="0">
              <a:buNone/>
            </a:pPr>
            <a:r>
              <a:rPr lang="en-US" sz="4400" b="1" kern="0" spc="100" dirty="0">
                <a:solidFill>
                  <a:srgbClr val="1E2761"/>
                </a:solidFill>
                <a:latin typeface="Arial Black" pitchFamily="34" charset="0"/>
                <a:ea typeface="Arial Black" pitchFamily="34" charset="-122"/>
                <a:cs typeface="Arial Black" pitchFamily="34" charset="-120"/>
              </a:rPr>
              <a:t>TOOLS</a:t>
            </a:r>
            <a:endParaRPr lang="en-US" sz="4400" dirty="0"/>
          </a:p>
        </p:txBody>
      </p:sp>
      <p:sp>
        <p:nvSpPr>
          <p:cNvPr id="4" name="Text 2"/>
          <p:cNvSpPr/>
          <p:nvPr/>
        </p:nvSpPr>
        <p:spPr>
          <a:xfrm>
            <a:off x="502920" y="1371600"/>
            <a:ext cx="4114800" cy="777240"/>
          </a:xfrm>
          <a:prstGeom prst="rect">
            <a:avLst/>
          </a:prstGeom>
          <a:noFill/>
          <a:ln/>
        </p:spPr>
        <p:txBody>
          <a:bodyPr wrap="square" lIns="0" tIns="0" rIns="0" bIns="0" rtlCol="0" anchor="ctr"/>
          <a:lstStyle/>
          <a:p>
            <a:pPr marL="0" indent="0">
              <a:buNone/>
            </a:pPr>
            <a:r>
              <a:rPr lang="en-US" sz="4400" b="1" kern="0" spc="100" dirty="0">
                <a:solidFill>
                  <a:srgbClr val="1E2761"/>
                </a:solidFill>
                <a:latin typeface="Arial Black" pitchFamily="34" charset="0"/>
                <a:ea typeface="Arial Black" pitchFamily="34" charset="-122"/>
                <a:cs typeface="Arial Black" pitchFamily="34" charset="-120"/>
              </a:rPr>
              <a:t>USED</a:t>
            </a:r>
            <a:endParaRPr lang="en-US" sz="4400" dirty="0"/>
          </a:p>
        </p:txBody>
      </p:sp>
      <p:sp>
        <p:nvSpPr>
          <p:cNvPr id="5" name="Text 3"/>
          <p:cNvSpPr/>
          <p:nvPr/>
        </p:nvSpPr>
        <p:spPr>
          <a:xfrm>
            <a:off x="502920" y="2468880"/>
            <a:ext cx="4114800" cy="2286000"/>
          </a:xfrm>
          <a:prstGeom prst="rect">
            <a:avLst/>
          </a:prstGeom>
          <a:noFill/>
          <a:ln/>
        </p:spPr>
        <p:txBody>
          <a:bodyPr wrap="square" lIns="0" tIns="0" rIns="0" bIns="0" rtlCol="0" anchor="ctr"/>
          <a:lstStyle/>
          <a:p>
            <a:r>
              <a:rPr lang="en-US" sz="1200">
                <a:solidFill>
                  <a:srgbClr val="1E2761"/>
                </a:solidFill>
                <a:latin typeface="Calibri"/>
                <a:ea typeface="Calibri"/>
                <a:cs typeface="Calibri"/>
              </a:rPr>
              <a:t>Notebook environment for analysis, a GIS platform for visualization, Research tools, and Python libraries to bridge the two. Each tool earned its place by handling a specific part of the pipeline.</a:t>
            </a:r>
            <a:endParaRPr lang="en-US" sz="1200">
              <a:latin typeface="Calibri"/>
              <a:ea typeface="Calibri"/>
              <a:cs typeface="Calibri"/>
            </a:endParaRPr>
          </a:p>
        </p:txBody>
      </p:sp>
      <p:sp>
        <p:nvSpPr>
          <p:cNvPr id="7" name="Text 5"/>
          <p:cNvSpPr/>
          <p:nvPr/>
        </p:nvSpPr>
        <p:spPr>
          <a:xfrm>
            <a:off x="5120640" y="1097280"/>
            <a:ext cx="1371600" cy="548640"/>
          </a:xfrm>
          <a:prstGeom prst="rect">
            <a:avLst/>
          </a:prstGeom>
          <a:noFill/>
          <a:ln/>
        </p:spPr>
        <p:txBody>
          <a:bodyPr wrap="square" lIns="0" tIns="0" rIns="0" bIns="0" rtlCol="0" anchor="ctr"/>
          <a:lstStyle/>
          <a:p>
            <a:pPr marL="0" indent="0" algn="ctr">
              <a:buNone/>
            </a:pPr>
            <a:r>
              <a:rPr lang="en-US" sz="1400" b="1" dirty="0">
                <a:solidFill>
                  <a:srgbClr val="1E2761"/>
                </a:solidFill>
                <a:latin typeface="Arial Black" pitchFamily="34" charset="0"/>
                <a:ea typeface="Arial Black" pitchFamily="34" charset="-122"/>
                <a:cs typeface="Arial Black" pitchFamily="34" charset="-120"/>
              </a:rPr>
              <a:t>Databricks</a:t>
            </a:r>
            <a:endParaRPr lang="en-US" sz="1400" dirty="0"/>
          </a:p>
        </p:txBody>
      </p:sp>
      <p:sp>
        <p:nvSpPr>
          <p:cNvPr id="8" name="Shape 6"/>
          <p:cNvSpPr/>
          <p:nvPr/>
        </p:nvSpPr>
        <p:spPr>
          <a:xfrm>
            <a:off x="5349240" y="1737360"/>
            <a:ext cx="914400" cy="0"/>
          </a:xfrm>
          <a:prstGeom prst="line">
            <a:avLst/>
          </a:prstGeom>
          <a:noFill/>
          <a:ln w="12700">
            <a:solidFill>
              <a:srgbClr val="1E2761"/>
            </a:solidFill>
            <a:prstDash val="solid"/>
          </a:ln>
        </p:spPr>
        <p:txBody>
          <a:bodyPr/>
          <a:lstStyle/>
          <a:p>
            <a:endParaRPr lang="en-US"/>
          </a:p>
        </p:txBody>
      </p:sp>
      <p:sp>
        <p:nvSpPr>
          <p:cNvPr id="9" name="Text 7"/>
          <p:cNvSpPr/>
          <p:nvPr/>
        </p:nvSpPr>
        <p:spPr>
          <a:xfrm>
            <a:off x="5120640" y="1828800"/>
            <a:ext cx="1371600" cy="548640"/>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Notebooks, Spark tables, SQL queries</a:t>
            </a:r>
            <a:endParaRPr lang="en-US" sz="1000" dirty="0"/>
          </a:p>
        </p:txBody>
      </p:sp>
      <p:sp>
        <p:nvSpPr>
          <p:cNvPr id="10" name="Shape 8"/>
          <p:cNvSpPr/>
          <p:nvPr/>
        </p:nvSpPr>
        <p:spPr>
          <a:xfrm>
            <a:off x="6720840" y="868680"/>
            <a:ext cx="1554480" cy="1600200"/>
          </a:xfrm>
          <a:prstGeom prst="rect">
            <a:avLst/>
          </a:prstGeom>
          <a:solidFill>
            <a:srgbClr val="F1EAD8"/>
          </a:solidFill>
          <a:ln w="25400">
            <a:solidFill>
              <a:srgbClr val="1E2761"/>
            </a:solidFill>
            <a:prstDash val="solid"/>
          </a:ln>
        </p:spPr>
        <p:txBody>
          <a:bodyPr/>
          <a:lstStyle/>
          <a:p>
            <a:endParaRPr lang="en-US"/>
          </a:p>
        </p:txBody>
      </p:sp>
      <p:sp>
        <p:nvSpPr>
          <p:cNvPr id="11" name="Text 9"/>
          <p:cNvSpPr/>
          <p:nvPr/>
        </p:nvSpPr>
        <p:spPr>
          <a:xfrm>
            <a:off x="6812280" y="1097280"/>
            <a:ext cx="1371600" cy="548640"/>
          </a:xfrm>
          <a:prstGeom prst="rect">
            <a:avLst/>
          </a:prstGeom>
          <a:noFill/>
          <a:ln/>
        </p:spPr>
        <p:txBody>
          <a:bodyPr wrap="square" lIns="0" tIns="0" rIns="0" bIns="0" rtlCol="0" anchor="ctr"/>
          <a:lstStyle/>
          <a:p>
            <a:pPr marL="0" indent="0" algn="ctr">
              <a:buNone/>
            </a:pPr>
            <a:r>
              <a:rPr lang="en-US" sz="1400" b="1" dirty="0">
                <a:solidFill>
                  <a:srgbClr val="1E2761"/>
                </a:solidFill>
                <a:latin typeface="Arial Black" pitchFamily="34" charset="0"/>
                <a:ea typeface="Arial Black" pitchFamily="34" charset="-122"/>
                <a:cs typeface="Arial Black" pitchFamily="34" charset="-120"/>
              </a:rPr>
              <a:t>ArcGIS Online</a:t>
            </a:r>
            <a:endParaRPr lang="en-US" sz="1400" dirty="0"/>
          </a:p>
        </p:txBody>
      </p:sp>
      <p:sp>
        <p:nvSpPr>
          <p:cNvPr id="12" name="Shape 10"/>
          <p:cNvSpPr/>
          <p:nvPr/>
        </p:nvSpPr>
        <p:spPr>
          <a:xfrm>
            <a:off x="7040880" y="1737360"/>
            <a:ext cx="914400" cy="0"/>
          </a:xfrm>
          <a:prstGeom prst="line">
            <a:avLst/>
          </a:prstGeom>
          <a:noFill/>
          <a:ln w="12700">
            <a:solidFill>
              <a:srgbClr val="1E2761"/>
            </a:solidFill>
            <a:prstDash val="solid"/>
          </a:ln>
        </p:spPr>
        <p:txBody>
          <a:bodyPr/>
          <a:lstStyle/>
          <a:p>
            <a:endParaRPr lang="en-US"/>
          </a:p>
        </p:txBody>
      </p:sp>
      <p:sp>
        <p:nvSpPr>
          <p:cNvPr id="13" name="Text 11"/>
          <p:cNvSpPr/>
          <p:nvPr/>
        </p:nvSpPr>
        <p:spPr>
          <a:xfrm>
            <a:off x="6812280" y="1828800"/>
            <a:ext cx="1371600" cy="548640"/>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Map Viewer, layer styling, pop-ups</a:t>
            </a:r>
            <a:endParaRPr lang="en-US" sz="1000" dirty="0"/>
          </a:p>
        </p:txBody>
      </p:sp>
      <p:sp>
        <p:nvSpPr>
          <p:cNvPr id="14" name="Shape 12"/>
          <p:cNvSpPr/>
          <p:nvPr/>
        </p:nvSpPr>
        <p:spPr>
          <a:xfrm>
            <a:off x="5029200" y="2697480"/>
            <a:ext cx="1554480" cy="1600200"/>
          </a:xfrm>
          <a:prstGeom prst="rect">
            <a:avLst/>
          </a:prstGeom>
          <a:solidFill>
            <a:srgbClr val="F1EAD8"/>
          </a:solidFill>
          <a:ln w="25400">
            <a:solidFill>
              <a:srgbClr val="1E2761"/>
            </a:solidFill>
            <a:prstDash val="solid"/>
          </a:ln>
        </p:spPr>
        <p:txBody>
          <a:bodyPr/>
          <a:lstStyle/>
          <a:p>
            <a:endParaRPr lang="en-US"/>
          </a:p>
        </p:txBody>
      </p:sp>
      <p:sp>
        <p:nvSpPr>
          <p:cNvPr id="15" name="Text 13"/>
          <p:cNvSpPr/>
          <p:nvPr/>
        </p:nvSpPr>
        <p:spPr>
          <a:xfrm>
            <a:off x="5120640" y="2926080"/>
            <a:ext cx="1371600" cy="548640"/>
          </a:xfrm>
          <a:prstGeom prst="rect">
            <a:avLst/>
          </a:prstGeom>
          <a:noFill/>
          <a:ln/>
        </p:spPr>
        <p:txBody>
          <a:bodyPr wrap="square" lIns="0" tIns="0" rIns="0" bIns="0" rtlCol="0" anchor="ctr"/>
          <a:lstStyle/>
          <a:p>
            <a:pPr marL="0" indent="0" algn="ctr">
              <a:buNone/>
            </a:pPr>
            <a:r>
              <a:rPr lang="en-US" sz="1400" b="1" dirty="0">
                <a:solidFill>
                  <a:srgbClr val="1E2761"/>
                </a:solidFill>
                <a:latin typeface="Arial Black" pitchFamily="34" charset="0"/>
                <a:ea typeface="Arial Black" pitchFamily="34" charset="-122"/>
                <a:cs typeface="Arial Black" pitchFamily="34" charset="-120"/>
              </a:rPr>
              <a:t>Python API</a:t>
            </a:r>
            <a:endParaRPr lang="en-US" sz="1400" dirty="0"/>
          </a:p>
        </p:txBody>
      </p:sp>
      <p:sp>
        <p:nvSpPr>
          <p:cNvPr id="16" name="Shape 14"/>
          <p:cNvSpPr/>
          <p:nvPr/>
        </p:nvSpPr>
        <p:spPr>
          <a:xfrm>
            <a:off x="5349240" y="3566160"/>
            <a:ext cx="914400" cy="0"/>
          </a:xfrm>
          <a:prstGeom prst="line">
            <a:avLst/>
          </a:prstGeom>
          <a:noFill/>
          <a:ln w="12700">
            <a:solidFill>
              <a:srgbClr val="1E2761"/>
            </a:solidFill>
            <a:prstDash val="solid"/>
          </a:ln>
        </p:spPr>
        <p:txBody>
          <a:bodyPr/>
          <a:lstStyle/>
          <a:p>
            <a:endParaRPr lang="en-US"/>
          </a:p>
        </p:txBody>
      </p:sp>
      <p:sp>
        <p:nvSpPr>
          <p:cNvPr id="17" name="Text 15"/>
          <p:cNvSpPr/>
          <p:nvPr/>
        </p:nvSpPr>
        <p:spPr>
          <a:xfrm>
            <a:off x="5120640" y="3657600"/>
            <a:ext cx="1371600" cy="548640"/>
          </a:xfrm>
          <a:prstGeom prst="rect">
            <a:avLst/>
          </a:prstGeom>
          <a:noFill/>
          <a:ln/>
        </p:spPr>
        <p:txBody>
          <a:bodyPr wrap="square" lIns="0" tIns="0" rIns="0" bIns="0" rtlCol="0" anchor="ctr"/>
          <a:lstStyle/>
          <a:p>
            <a:pPr marL="0" indent="0" algn="ctr">
              <a:buNone/>
            </a:pPr>
            <a:r>
              <a:rPr lang="en-US" sz="1000" err="1">
                <a:solidFill>
                  <a:srgbClr val="1E2761"/>
                </a:solidFill>
                <a:latin typeface="Calibri"/>
                <a:ea typeface="Calibri"/>
                <a:cs typeface="Calibri"/>
              </a:rPr>
              <a:t>ARCgis</a:t>
            </a:r>
            <a:r>
              <a:rPr lang="en-US" sz="1000">
                <a:solidFill>
                  <a:srgbClr val="1E2761"/>
                </a:solidFill>
                <a:latin typeface="Calibri"/>
                <a:ea typeface="Calibri"/>
                <a:cs typeface="Calibri"/>
              </a:rPr>
              <a:t> library for layer access</a:t>
            </a:r>
            <a:endParaRPr lang="en-US" sz="1000">
              <a:latin typeface="Calibri"/>
              <a:ea typeface="Calibri"/>
              <a:cs typeface="Calibri"/>
            </a:endParaRPr>
          </a:p>
        </p:txBody>
      </p:sp>
      <p:sp>
        <p:nvSpPr>
          <p:cNvPr id="18" name="Shape 16"/>
          <p:cNvSpPr/>
          <p:nvPr/>
        </p:nvSpPr>
        <p:spPr>
          <a:xfrm>
            <a:off x="6720840" y="2697480"/>
            <a:ext cx="1554480" cy="1600200"/>
          </a:xfrm>
          <a:prstGeom prst="rect">
            <a:avLst/>
          </a:prstGeom>
          <a:solidFill>
            <a:srgbClr val="F1EAD8"/>
          </a:solidFill>
          <a:ln w="25400">
            <a:solidFill>
              <a:srgbClr val="1E2761"/>
            </a:solidFill>
            <a:prstDash val="solid"/>
          </a:ln>
        </p:spPr>
        <p:txBody>
          <a:bodyPr/>
          <a:lstStyle/>
          <a:p>
            <a:endParaRPr lang="en-US"/>
          </a:p>
        </p:txBody>
      </p:sp>
      <p:sp>
        <p:nvSpPr>
          <p:cNvPr id="19" name="Text 17"/>
          <p:cNvSpPr/>
          <p:nvPr/>
        </p:nvSpPr>
        <p:spPr>
          <a:xfrm>
            <a:off x="6812280" y="2926080"/>
            <a:ext cx="1371600" cy="548640"/>
          </a:xfrm>
          <a:prstGeom prst="rect">
            <a:avLst/>
          </a:prstGeom>
          <a:noFill/>
          <a:ln/>
        </p:spPr>
        <p:txBody>
          <a:bodyPr wrap="square" lIns="0" tIns="0" rIns="0" bIns="0" rtlCol="0" anchor="ctr"/>
          <a:lstStyle/>
          <a:p>
            <a:pPr marL="0" indent="0" algn="ctr">
              <a:buNone/>
            </a:pPr>
            <a:r>
              <a:rPr lang="en-US" sz="1400" b="1" dirty="0">
                <a:solidFill>
                  <a:srgbClr val="1E2761"/>
                </a:solidFill>
                <a:latin typeface="Arial Black" pitchFamily="34" charset="0"/>
                <a:ea typeface="Arial Black" pitchFamily="34" charset="-122"/>
                <a:cs typeface="Arial Black" pitchFamily="34" charset="-120"/>
              </a:rPr>
              <a:t>Pandas + NumPy</a:t>
            </a:r>
            <a:endParaRPr lang="en-US" sz="1400" dirty="0"/>
          </a:p>
        </p:txBody>
      </p:sp>
      <p:sp>
        <p:nvSpPr>
          <p:cNvPr id="20" name="Shape 18"/>
          <p:cNvSpPr/>
          <p:nvPr/>
        </p:nvSpPr>
        <p:spPr>
          <a:xfrm>
            <a:off x="7040880" y="3566160"/>
            <a:ext cx="914400" cy="0"/>
          </a:xfrm>
          <a:prstGeom prst="line">
            <a:avLst/>
          </a:prstGeom>
          <a:noFill/>
          <a:ln w="12700">
            <a:solidFill>
              <a:srgbClr val="1E2761"/>
            </a:solidFill>
            <a:prstDash val="solid"/>
          </a:ln>
        </p:spPr>
        <p:txBody>
          <a:bodyPr/>
          <a:lstStyle/>
          <a:p>
            <a:endParaRPr lang="en-US"/>
          </a:p>
        </p:txBody>
      </p:sp>
      <p:sp>
        <p:nvSpPr>
          <p:cNvPr id="21" name="Text 19"/>
          <p:cNvSpPr/>
          <p:nvPr/>
        </p:nvSpPr>
        <p:spPr>
          <a:xfrm>
            <a:off x="6812280" y="3657600"/>
            <a:ext cx="1371600" cy="548640"/>
          </a:xfrm>
          <a:prstGeom prst="rect">
            <a:avLst/>
          </a:prstGeom>
          <a:noFill/>
          <a:ln/>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Group-bys, filters, risk scoring</a:t>
            </a:r>
            <a:endParaRPr lang="en-US" sz="1000" dirty="0"/>
          </a:p>
        </p:txBody>
      </p:sp>
      <p:sp>
        <p:nvSpPr>
          <p:cNvPr id="22" name="Shape 4">
            <a:extLst>
              <a:ext uri="{FF2B5EF4-FFF2-40B4-BE49-F238E27FC236}">
                <a16:creationId xmlns:a16="http://schemas.microsoft.com/office/drawing/2014/main" id="{CE5AFCF4-E83C-E2E0-6DED-30000018CB0E}"/>
              </a:ext>
            </a:extLst>
          </p:cNvPr>
          <p:cNvSpPr/>
          <p:nvPr/>
        </p:nvSpPr>
        <p:spPr>
          <a:xfrm>
            <a:off x="3343858" y="845353"/>
            <a:ext cx="1554480" cy="1600200"/>
          </a:xfrm>
          <a:prstGeom prst="rect">
            <a:avLst/>
          </a:prstGeom>
          <a:solidFill>
            <a:srgbClr val="F1EAD8"/>
          </a:solidFill>
          <a:ln w="25400">
            <a:solidFill>
              <a:srgbClr val="1E2761"/>
            </a:solidFill>
            <a:prstDash val="solid"/>
          </a:ln>
        </p:spPr>
        <p:txBody>
          <a:bodyPr/>
          <a:lstStyle/>
          <a:p>
            <a:endParaRPr lang="en-US"/>
          </a:p>
        </p:txBody>
      </p:sp>
      <p:sp>
        <p:nvSpPr>
          <p:cNvPr id="24" name="Text 5">
            <a:extLst>
              <a:ext uri="{FF2B5EF4-FFF2-40B4-BE49-F238E27FC236}">
                <a16:creationId xmlns:a16="http://schemas.microsoft.com/office/drawing/2014/main" id="{46211753-FE78-246C-2760-FBF048B0DF72}"/>
              </a:ext>
            </a:extLst>
          </p:cNvPr>
          <p:cNvSpPr/>
          <p:nvPr/>
        </p:nvSpPr>
        <p:spPr>
          <a:xfrm>
            <a:off x="3435297" y="1097279"/>
            <a:ext cx="1371600" cy="548640"/>
          </a:xfrm>
          <a:prstGeom prst="rect">
            <a:avLst/>
          </a:prstGeom>
          <a:noFill/>
          <a:ln/>
        </p:spPr>
        <p:txBody>
          <a:bodyPr wrap="square" lIns="0" tIns="0" rIns="0" bIns="0" rtlCol="0" anchor="ctr"/>
          <a:lstStyle/>
          <a:p>
            <a:pPr algn="ctr"/>
            <a:r>
              <a:rPr lang="en-US" sz="1400" b="1">
                <a:solidFill>
                  <a:srgbClr val="1E2761"/>
                </a:solidFill>
                <a:latin typeface="Arial Black"/>
              </a:rPr>
              <a:t>Amazon Quick</a:t>
            </a:r>
            <a:endParaRPr lang="en-US" sz="1400"/>
          </a:p>
        </p:txBody>
      </p:sp>
      <p:sp>
        <p:nvSpPr>
          <p:cNvPr id="27" name="Text 7">
            <a:extLst>
              <a:ext uri="{FF2B5EF4-FFF2-40B4-BE49-F238E27FC236}">
                <a16:creationId xmlns:a16="http://schemas.microsoft.com/office/drawing/2014/main" id="{C3D5538A-086B-04A0-BFDE-9535DCDA8401}"/>
              </a:ext>
            </a:extLst>
          </p:cNvPr>
          <p:cNvSpPr/>
          <p:nvPr/>
        </p:nvSpPr>
        <p:spPr>
          <a:xfrm>
            <a:off x="3435297" y="1735493"/>
            <a:ext cx="1371600" cy="548640"/>
          </a:xfrm>
          <a:prstGeom prst="rect">
            <a:avLst/>
          </a:prstGeom>
          <a:noFill/>
          <a:ln/>
        </p:spPr>
        <p:txBody>
          <a:bodyPr wrap="square" lIns="0" tIns="0" rIns="0" bIns="0" rtlCol="0" anchor="ctr"/>
          <a:lstStyle/>
          <a:p>
            <a:pPr algn="ctr"/>
            <a:r>
              <a:rPr lang="en-US" sz="1000">
                <a:solidFill>
                  <a:srgbClr val="1E2761"/>
                </a:solidFill>
                <a:ea typeface="Calibri"/>
                <a:cs typeface="Calibri"/>
              </a:rPr>
              <a:t>AI Research, Data Clarity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1EAD8"/>
        </a:solidFill>
        <a:effectLst/>
      </p:bgPr>
    </p:bg>
    <p:spTree>
      <p:nvGrpSpPr>
        <p:cNvPr id="1" name=""/>
        <p:cNvGrpSpPr/>
        <p:nvPr/>
      </p:nvGrpSpPr>
      <p:grpSpPr>
        <a:xfrm>
          <a:off x="0" y="0"/>
          <a:ext cx="0" cy="0"/>
          <a:chOff x="0" y="0"/>
          <a:chExt cx="0" cy="0"/>
        </a:xfrm>
      </p:grpSpPr>
      <p:sp>
        <p:nvSpPr>
          <p:cNvPr id="2" name="Shape 0"/>
          <p:cNvSpPr/>
          <p:nvPr/>
        </p:nvSpPr>
        <p:spPr>
          <a:xfrm>
            <a:off x="8686800" y="365760"/>
            <a:ext cx="320040" cy="4434840"/>
          </a:xfrm>
          <a:prstGeom prst="rect">
            <a:avLst/>
          </a:prstGeom>
          <a:solidFill>
            <a:srgbClr val="1A2253"/>
          </a:solidFill>
          <a:ln w="12700">
            <a:solidFill>
              <a:srgbClr val="1A2253"/>
            </a:solidFill>
            <a:prstDash val="solid"/>
          </a:ln>
        </p:spPr>
        <p:txBody>
          <a:bodyPr/>
          <a:lstStyle/>
          <a:p>
            <a:endParaRPr lang="en-US"/>
          </a:p>
        </p:txBody>
      </p:sp>
      <p:sp>
        <p:nvSpPr>
          <p:cNvPr id="3" name="Text 1"/>
          <p:cNvSpPr/>
          <p:nvPr/>
        </p:nvSpPr>
        <p:spPr>
          <a:xfrm>
            <a:off x="502920" y="502920"/>
            <a:ext cx="7955280" cy="914400"/>
          </a:xfrm>
          <a:prstGeom prst="rect">
            <a:avLst/>
          </a:prstGeom>
          <a:noFill/>
          <a:ln/>
        </p:spPr>
        <p:txBody>
          <a:bodyPr wrap="square" lIns="0" tIns="0" rIns="0" bIns="0" rtlCol="0" anchor="ctr"/>
          <a:lstStyle/>
          <a:p>
            <a:pPr marL="0" indent="0">
              <a:buNone/>
            </a:pPr>
            <a:r>
              <a:rPr lang="en-US" sz="4400" b="1" kern="0" spc="100" dirty="0">
                <a:solidFill>
                  <a:srgbClr val="1E2761"/>
                </a:solidFill>
                <a:latin typeface="Arial Black" pitchFamily="34" charset="0"/>
                <a:ea typeface="Arial Black" pitchFamily="34" charset="-122"/>
                <a:cs typeface="Arial Black" pitchFamily="34" charset="-120"/>
              </a:rPr>
              <a:t>THE DATASETS</a:t>
            </a:r>
            <a:endParaRPr lang="en-US" sz="4400" dirty="0"/>
          </a:p>
        </p:txBody>
      </p:sp>
      <p:sp>
        <p:nvSpPr>
          <p:cNvPr id="4" name="Text 2"/>
          <p:cNvSpPr/>
          <p:nvPr/>
        </p:nvSpPr>
        <p:spPr>
          <a:xfrm>
            <a:off x="502920" y="1737360"/>
            <a:ext cx="2468880" cy="45720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International Segments</a:t>
            </a:r>
            <a:endParaRPr lang="en-US" sz="1600" dirty="0"/>
          </a:p>
        </p:txBody>
      </p:sp>
      <p:sp>
        <p:nvSpPr>
          <p:cNvPr id="5" name="Text 3"/>
          <p:cNvSpPr/>
          <p:nvPr/>
        </p:nvSpPr>
        <p:spPr>
          <a:xfrm>
            <a:off x="502920" y="2194560"/>
            <a:ext cx="2468880" cy="365760"/>
          </a:xfrm>
          <a:prstGeom prst="rect">
            <a:avLst/>
          </a:prstGeom>
          <a:noFill/>
          <a:ln/>
        </p:spPr>
        <p:txBody>
          <a:bodyPr wrap="square" lIns="0" tIns="0" rIns="0" bIns="0" rtlCol="0" anchor="ctr"/>
          <a:lstStyle/>
          <a:p>
            <a:pPr marL="0" indent="0">
              <a:buNone/>
            </a:pPr>
            <a:r>
              <a:rPr lang="en-US" sz="1300" i="1" dirty="0">
                <a:solidFill>
                  <a:srgbClr val="1E2761"/>
                </a:solidFill>
                <a:latin typeface="Calibri" pitchFamily="34" charset="0"/>
                <a:ea typeface="Calibri" pitchFamily="34" charset="-122"/>
                <a:cs typeface="Calibri" pitchFamily="34" charset="-120"/>
              </a:rPr>
              <a:t>records</a:t>
            </a:r>
            <a:endParaRPr lang="en-US" sz="1300" dirty="0"/>
          </a:p>
        </p:txBody>
      </p:sp>
      <p:sp>
        <p:nvSpPr>
          <p:cNvPr id="6" name="Shape 4"/>
          <p:cNvSpPr/>
          <p:nvPr/>
        </p:nvSpPr>
        <p:spPr>
          <a:xfrm>
            <a:off x="502920" y="2697480"/>
            <a:ext cx="2468880" cy="1097280"/>
          </a:xfrm>
          <a:prstGeom prst="rect">
            <a:avLst/>
          </a:prstGeom>
          <a:solidFill>
            <a:srgbClr val="1E2761"/>
          </a:solidFill>
          <a:ln w="12700">
            <a:solidFill>
              <a:srgbClr val="1E2761"/>
            </a:solidFill>
            <a:prstDash val="solid"/>
          </a:ln>
        </p:spPr>
        <p:txBody>
          <a:bodyPr/>
          <a:lstStyle/>
          <a:p>
            <a:endParaRPr lang="en-US"/>
          </a:p>
        </p:txBody>
      </p:sp>
      <p:sp>
        <p:nvSpPr>
          <p:cNvPr id="7" name="Text 5"/>
          <p:cNvSpPr/>
          <p:nvPr/>
        </p:nvSpPr>
        <p:spPr>
          <a:xfrm>
            <a:off x="502920" y="2697480"/>
            <a:ext cx="2468880" cy="1097280"/>
          </a:xfrm>
          <a:prstGeom prst="rect">
            <a:avLst/>
          </a:prstGeom>
          <a:noFill/>
          <a:ln/>
        </p:spPr>
        <p:txBody>
          <a:bodyPr wrap="square" lIns="0" tIns="0" rIns="0" bIns="0" rtlCol="0" anchor="ctr"/>
          <a:lstStyle/>
          <a:p>
            <a:pPr marL="0" indent="0" algn="ctr">
              <a:buNone/>
            </a:pPr>
            <a:r>
              <a:rPr lang="en-US" sz="3000" b="1" dirty="0">
                <a:solidFill>
                  <a:srgbClr val="F1EAD8"/>
                </a:solidFill>
                <a:latin typeface="Arial Black" pitchFamily="34" charset="0"/>
                <a:ea typeface="Arial Black" pitchFamily="34" charset="-122"/>
                <a:cs typeface="Arial Black" pitchFamily="34" charset="-120"/>
              </a:rPr>
              <a:t>544,082</a:t>
            </a:r>
            <a:endParaRPr lang="en-US" sz="3000" dirty="0"/>
          </a:p>
        </p:txBody>
      </p:sp>
      <p:sp>
        <p:nvSpPr>
          <p:cNvPr id="8" name="Text 6"/>
          <p:cNvSpPr/>
          <p:nvPr/>
        </p:nvSpPr>
        <p:spPr>
          <a:xfrm>
            <a:off x="502920" y="3886200"/>
            <a:ext cx="2468880" cy="914400"/>
          </a:xfrm>
          <a:prstGeom prst="rect">
            <a:avLst/>
          </a:prstGeom>
          <a:noFill/>
          <a:ln/>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Foreign-to-US flight routes with passenger and freight volumes by month. The entry-side of the risk story.</a:t>
            </a:r>
            <a:endParaRPr lang="en-US" sz="1000" dirty="0"/>
          </a:p>
        </p:txBody>
      </p:sp>
      <p:sp>
        <p:nvSpPr>
          <p:cNvPr id="9" name="Text 7"/>
          <p:cNvSpPr/>
          <p:nvPr/>
        </p:nvSpPr>
        <p:spPr>
          <a:xfrm>
            <a:off x="3154680" y="1737360"/>
            <a:ext cx="2468880" cy="45720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Domestic Segments</a:t>
            </a:r>
            <a:endParaRPr lang="en-US" sz="1600" dirty="0"/>
          </a:p>
        </p:txBody>
      </p:sp>
      <p:sp>
        <p:nvSpPr>
          <p:cNvPr id="10" name="Text 8"/>
          <p:cNvSpPr/>
          <p:nvPr/>
        </p:nvSpPr>
        <p:spPr>
          <a:xfrm>
            <a:off x="3154680" y="2194560"/>
            <a:ext cx="2468880" cy="365760"/>
          </a:xfrm>
          <a:prstGeom prst="rect">
            <a:avLst/>
          </a:prstGeom>
          <a:noFill/>
          <a:ln/>
        </p:spPr>
        <p:txBody>
          <a:bodyPr wrap="square" lIns="0" tIns="0" rIns="0" bIns="0" rtlCol="0" anchor="ctr"/>
          <a:lstStyle/>
          <a:p>
            <a:pPr marL="0" indent="0">
              <a:buNone/>
            </a:pPr>
            <a:r>
              <a:rPr lang="en-US" sz="1300" i="1" dirty="0">
                <a:solidFill>
                  <a:srgbClr val="1E2761"/>
                </a:solidFill>
                <a:latin typeface="Calibri" pitchFamily="34" charset="0"/>
                <a:ea typeface="Calibri" pitchFamily="34" charset="-122"/>
                <a:cs typeface="Calibri" pitchFamily="34" charset="-120"/>
              </a:rPr>
              <a:t>records</a:t>
            </a:r>
            <a:endParaRPr lang="en-US" sz="1300" dirty="0"/>
          </a:p>
        </p:txBody>
      </p:sp>
      <p:sp>
        <p:nvSpPr>
          <p:cNvPr id="11" name="Shape 9"/>
          <p:cNvSpPr/>
          <p:nvPr/>
        </p:nvSpPr>
        <p:spPr>
          <a:xfrm>
            <a:off x="3154680" y="2697480"/>
            <a:ext cx="2468880" cy="1097280"/>
          </a:xfrm>
          <a:prstGeom prst="rect">
            <a:avLst/>
          </a:prstGeom>
          <a:solidFill>
            <a:srgbClr val="1E2761"/>
          </a:solidFill>
          <a:ln w="12700">
            <a:solidFill>
              <a:srgbClr val="1E2761"/>
            </a:solidFill>
            <a:prstDash val="solid"/>
          </a:ln>
        </p:spPr>
        <p:txBody>
          <a:bodyPr/>
          <a:lstStyle/>
          <a:p>
            <a:endParaRPr lang="en-US"/>
          </a:p>
        </p:txBody>
      </p:sp>
      <p:sp>
        <p:nvSpPr>
          <p:cNvPr id="12" name="Text 10"/>
          <p:cNvSpPr/>
          <p:nvPr/>
        </p:nvSpPr>
        <p:spPr>
          <a:xfrm>
            <a:off x="3154680" y="2697480"/>
            <a:ext cx="2468880" cy="1097280"/>
          </a:xfrm>
          <a:prstGeom prst="rect">
            <a:avLst/>
          </a:prstGeom>
          <a:noFill/>
          <a:ln/>
        </p:spPr>
        <p:txBody>
          <a:bodyPr wrap="square" lIns="0" tIns="0" rIns="0" bIns="0" rtlCol="0" anchor="ctr"/>
          <a:lstStyle/>
          <a:p>
            <a:pPr marL="0" indent="0" algn="ctr">
              <a:buNone/>
            </a:pPr>
            <a:r>
              <a:rPr lang="en-US" sz="3000" b="1" dirty="0">
                <a:solidFill>
                  <a:srgbClr val="F1EAD8"/>
                </a:solidFill>
                <a:latin typeface="Arial Black" pitchFamily="34" charset="0"/>
                <a:ea typeface="Arial Black" pitchFamily="34" charset="-122"/>
                <a:cs typeface="Arial Black" pitchFamily="34" charset="-120"/>
              </a:rPr>
              <a:t>608,918</a:t>
            </a:r>
            <a:endParaRPr lang="en-US" sz="3000" dirty="0"/>
          </a:p>
        </p:txBody>
      </p:sp>
      <p:sp>
        <p:nvSpPr>
          <p:cNvPr id="13" name="Text 11"/>
          <p:cNvSpPr/>
          <p:nvPr/>
        </p:nvSpPr>
        <p:spPr>
          <a:xfrm>
            <a:off x="3154680" y="3886200"/>
            <a:ext cx="2468880" cy="914400"/>
          </a:xfrm>
          <a:prstGeom prst="rect">
            <a:avLst/>
          </a:prstGeom>
          <a:noFill/>
          <a:ln/>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US-internal flights filtered to California, Texas, and Florida destinations. Shows potential spread pathways after entry.</a:t>
            </a:r>
            <a:endParaRPr lang="en-US" sz="1000" dirty="0"/>
          </a:p>
        </p:txBody>
      </p:sp>
      <p:sp>
        <p:nvSpPr>
          <p:cNvPr id="14" name="Text 12"/>
          <p:cNvSpPr/>
          <p:nvPr/>
        </p:nvSpPr>
        <p:spPr>
          <a:xfrm>
            <a:off x="5806440" y="1737360"/>
            <a:ext cx="2468880" cy="45720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Fruit Fly Detections</a:t>
            </a:r>
            <a:endParaRPr lang="en-US" sz="1600" dirty="0"/>
          </a:p>
        </p:txBody>
      </p:sp>
      <p:sp>
        <p:nvSpPr>
          <p:cNvPr id="15" name="Text 13"/>
          <p:cNvSpPr/>
          <p:nvPr/>
        </p:nvSpPr>
        <p:spPr>
          <a:xfrm>
            <a:off x="5806440" y="2194560"/>
            <a:ext cx="2468880" cy="365760"/>
          </a:xfrm>
          <a:prstGeom prst="rect">
            <a:avLst/>
          </a:prstGeom>
          <a:noFill/>
          <a:ln/>
        </p:spPr>
        <p:txBody>
          <a:bodyPr wrap="square" lIns="0" tIns="0" rIns="0" bIns="0" rtlCol="0" anchor="ctr"/>
          <a:lstStyle/>
          <a:p>
            <a:pPr marL="0" indent="0">
              <a:buNone/>
            </a:pPr>
            <a:r>
              <a:rPr lang="en-US" sz="1300" i="1" dirty="0">
                <a:solidFill>
                  <a:srgbClr val="1E2761"/>
                </a:solidFill>
                <a:latin typeface="Calibri" pitchFamily="34" charset="0"/>
                <a:ea typeface="Calibri" pitchFamily="34" charset="-122"/>
                <a:cs typeface="Calibri" pitchFamily="34" charset="-120"/>
              </a:rPr>
              <a:t>records</a:t>
            </a:r>
            <a:endParaRPr lang="en-US" sz="1300" dirty="0"/>
          </a:p>
        </p:txBody>
      </p:sp>
      <p:sp>
        <p:nvSpPr>
          <p:cNvPr id="16" name="Shape 14"/>
          <p:cNvSpPr/>
          <p:nvPr/>
        </p:nvSpPr>
        <p:spPr>
          <a:xfrm>
            <a:off x="5806440" y="2697480"/>
            <a:ext cx="2468880" cy="1097280"/>
          </a:xfrm>
          <a:prstGeom prst="rect">
            <a:avLst/>
          </a:prstGeom>
          <a:solidFill>
            <a:srgbClr val="1E2761"/>
          </a:solidFill>
          <a:ln w="12700">
            <a:solidFill>
              <a:srgbClr val="1E2761"/>
            </a:solidFill>
            <a:prstDash val="solid"/>
          </a:ln>
        </p:spPr>
        <p:txBody>
          <a:bodyPr/>
          <a:lstStyle/>
          <a:p>
            <a:endParaRPr lang="en-US"/>
          </a:p>
        </p:txBody>
      </p:sp>
      <p:sp>
        <p:nvSpPr>
          <p:cNvPr id="17" name="Text 15"/>
          <p:cNvSpPr/>
          <p:nvPr/>
        </p:nvSpPr>
        <p:spPr>
          <a:xfrm>
            <a:off x="5806440" y="2697480"/>
            <a:ext cx="2468880" cy="1097280"/>
          </a:xfrm>
          <a:prstGeom prst="rect">
            <a:avLst/>
          </a:prstGeom>
          <a:noFill/>
          <a:ln/>
        </p:spPr>
        <p:txBody>
          <a:bodyPr wrap="square" lIns="0" tIns="0" rIns="0" bIns="0" rtlCol="0" anchor="ctr"/>
          <a:lstStyle/>
          <a:p>
            <a:pPr marL="0" indent="0" algn="ctr">
              <a:buNone/>
            </a:pPr>
            <a:r>
              <a:rPr lang="en-US" sz="3000" b="1" dirty="0">
                <a:solidFill>
                  <a:srgbClr val="F1EAD8"/>
                </a:solidFill>
                <a:latin typeface="Arial Black" pitchFamily="34" charset="0"/>
                <a:ea typeface="Arial Black" pitchFamily="34" charset="-122"/>
                <a:cs typeface="Arial Black" pitchFamily="34" charset="-120"/>
              </a:rPr>
              <a:t>305</a:t>
            </a:r>
            <a:endParaRPr lang="en-US" sz="3000" dirty="0"/>
          </a:p>
        </p:txBody>
      </p:sp>
      <p:sp>
        <p:nvSpPr>
          <p:cNvPr id="18" name="Text 16"/>
          <p:cNvSpPr/>
          <p:nvPr/>
        </p:nvSpPr>
        <p:spPr>
          <a:xfrm>
            <a:off x="5806440" y="3886200"/>
            <a:ext cx="2468880" cy="914400"/>
          </a:xfrm>
          <a:prstGeom prst="rect">
            <a:avLst/>
          </a:prstGeom>
          <a:noFill/>
          <a:ln/>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Confirmed detection counts by US county, state, species, and month. The validation layer for everything else.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1EAD8"/>
        </a:solidFill>
        <a:effectLst/>
      </p:bgPr>
    </p:bg>
    <p:spTree>
      <p:nvGrpSpPr>
        <p:cNvPr id="1" name=""/>
        <p:cNvGrpSpPr/>
        <p:nvPr/>
      </p:nvGrpSpPr>
      <p:grpSpPr>
        <a:xfrm>
          <a:off x="0" y="0"/>
          <a:ext cx="0" cy="0"/>
          <a:chOff x="0" y="0"/>
          <a:chExt cx="0" cy="0"/>
        </a:xfrm>
      </p:grpSpPr>
      <p:sp>
        <p:nvSpPr>
          <p:cNvPr id="2" name="Shape 0"/>
          <p:cNvSpPr/>
          <p:nvPr/>
        </p:nvSpPr>
        <p:spPr>
          <a:xfrm>
            <a:off x="8686800" y="365760"/>
            <a:ext cx="320040" cy="4434840"/>
          </a:xfrm>
          <a:prstGeom prst="rect">
            <a:avLst/>
          </a:prstGeom>
          <a:solidFill>
            <a:srgbClr val="1A2253"/>
          </a:solidFill>
          <a:ln w="12700">
            <a:solidFill>
              <a:srgbClr val="1A2253"/>
            </a:solidFill>
            <a:prstDash val="solid"/>
          </a:ln>
        </p:spPr>
        <p:txBody>
          <a:bodyPr/>
          <a:lstStyle/>
          <a:p>
            <a:endParaRPr lang="en-US"/>
          </a:p>
        </p:txBody>
      </p:sp>
      <p:sp>
        <p:nvSpPr>
          <p:cNvPr id="3" name="Text 1"/>
          <p:cNvSpPr/>
          <p:nvPr/>
        </p:nvSpPr>
        <p:spPr>
          <a:xfrm>
            <a:off x="502920" y="457200"/>
            <a:ext cx="7955280" cy="822960"/>
          </a:xfrm>
          <a:prstGeom prst="rect">
            <a:avLst/>
          </a:prstGeom>
          <a:noFill/>
          <a:ln/>
        </p:spPr>
        <p:txBody>
          <a:bodyPr wrap="square" lIns="0" tIns="0" rIns="0" bIns="0" rtlCol="0" anchor="ctr"/>
          <a:lstStyle/>
          <a:p>
            <a:pPr marL="0" indent="0" algn="ctr">
              <a:buNone/>
            </a:pPr>
            <a:r>
              <a:rPr lang="en-US" sz="4000" b="1" kern="0" spc="100" dirty="0">
                <a:solidFill>
                  <a:srgbClr val="1E2761"/>
                </a:solidFill>
                <a:latin typeface="Arial Black" pitchFamily="34" charset="0"/>
                <a:ea typeface="Arial Black" pitchFamily="34" charset="-122"/>
                <a:cs typeface="Arial Black" pitchFamily="34" charset="-120"/>
              </a:rPr>
              <a:t>WHAT WORKED</a:t>
            </a:r>
            <a:endParaRPr lang="en-US" sz="4000" dirty="0"/>
          </a:p>
        </p:txBody>
      </p:sp>
      <p:sp>
        <p:nvSpPr>
          <p:cNvPr id="4" name="Shape 2"/>
          <p:cNvSpPr/>
          <p:nvPr/>
        </p:nvSpPr>
        <p:spPr>
          <a:xfrm>
            <a:off x="4206240" y="1554480"/>
            <a:ext cx="0" cy="2926080"/>
          </a:xfrm>
          <a:prstGeom prst="line">
            <a:avLst/>
          </a:prstGeom>
          <a:noFill/>
          <a:ln w="25400">
            <a:solidFill>
              <a:srgbClr val="1E2761"/>
            </a:solidFill>
            <a:prstDash val="solid"/>
          </a:ln>
        </p:spPr>
        <p:txBody>
          <a:bodyPr/>
          <a:lstStyle/>
          <a:p>
            <a:endParaRPr lang="en-US"/>
          </a:p>
        </p:txBody>
      </p:sp>
      <p:sp>
        <p:nvSpPr>
          <p:cNvPr id="5" name="Shape 3"/>
          <p:cNvSpPr/>
          <p:nvPr/>
        </p:nvSpPr>
        <p:spPr>
          <a:xfrm>
            <a:off x="4114800" y="1737360"/>
            <a:ext cx="182880" cy="182880"/>
          </a:xfrm>
          <a:prstGeom prst="ellipse">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502920" y="1600200"/>
            <a:ext cx="3520440" cy="457200"/>
          </a:xfrm>
          <a:prstGeom prst="rect">
            <a:avLst/>
          </a:prstGeom>
          <a:noFill/>
          <a:ln/>
        </p:spPr>
        <p:txBody>
          <a:bodyPr wrap="square" lIns="0" tIns="0" rIns="0" bIns="0" rtlCol="0" anchor="ctr"/>
          <a:lstStyle/>
          <a:p>
            <a:pPr marL="0" indent="0" algn="r">
              <a:buNone/>
            </a:pPr>
            <a:r>
              <a:rPr lang="en-US" sz="1600" b="1" dirty="0">
                <a:solidFill>
                  <a:srgbClr val="1E2761"/>
                </a:solidFill>
                <a:latin typeface="Calibri" pitchFamily="34" charset="0"/>
                <a:ea typeface="Calibri" pitchFamily="34" charset="-122"/>
                <a:cs typeface="Calibri" pitchFamily="34" charset="-120"/>
              </a:rPr>
              <a:t>ArcGIS Python Library</a:t>
            </a:r>
            <a:endParaRPr lang="en-US" sz="1600" dirty="0"/>
          </a:p>
        </p:txBody>
      </p:sp>
      <p:sp>
        <p:nvSpPr>
          <p:cNvPr id="7" name="Text 5"/>
          <p:cNvSpPr/>
          <p:nvPr/>
        </p:nvSpPr>
        <p:spPr>
          <a:xfrm>
            <a:off x="502920" y="2057400"/>
            <a:ext cx="3520440" cy="822960"/>
          </a:xfrm>
          <a:prstGeom prst="rect">
            <a:avLst/>
          </a:prstGeom>
          <a:noFill/>
          <a:ln/>
        </p:spPr>
        <p:txBody>
          <a:bodyPr wrap="square" lIns="0" tIns="0" rIns="0" bIns="0" rtlCol="0" anchor="ctr"/>
          <a:lstStyle/>
          <a:p>
            <a:pPr marL="0" indent="0" algn="r">
              <a:buNone/>
            </a:pPr>
            <a:r>
              <a:rPr lang="en-US" sz="1200" dirty="0">
                <a:solidFill>
                  <a:srgbClr val="1E2761"/>
                </a:solidFill>
                <a:latin typeface="Calibri" pitchFamily="34" charset="0"/>
                <a:ea typeface="Calibri" pitchFamily="34" charset="-122"/>
                <a:cs typeface="Calibri" pitchFamily="34" charset="-120"/>
              </a:rPr>
              <a:t>Handled auth and JSON requests under the hood.</a:t>
            </a:r>
            <a:endParaRPr lang="en-US" sz="1200" dirty="0"/>
          </a:p>
        </p:txBody>
      </p:sp>
      <p:sp>
        <p:nvSpPr>
          <p:cNvPr id="8" name="Shape 6"/>
          <p:cNvSpPr/>
          <p:nvPr/>
        </p:nvSpPr>
        <p:spPr>
          <a:xfrm>
            <a:off x="4114800" y="1737360"/>
            <a:ext cx="182880" cy="182880"/>
          </a:xfrm>
          <a:prstGeom prst="ellipse">
            <a:avLst/>
          </a:prstGeom>
          <a:solidFill>
            <a:srgbClr val="1E2761"/>
          </a:solidFill>
          <a:ln w="12700">
            <a:solidFill>
              <a:srgbClr val="1E2761"/>
            </a:solidFill>
            <a:prstDash val="solid"/>
          </a:ln>
        </p:spPr>
        <p:txBody>
          <a:bodyPr/>
          <a:lstStyle/>
          <a:p>
            <a:endParaRPr lang="en-US"/>
          </a:p>
        </p:txBody>
      </p:sp>
      <p:sp>
        <p:nvSpPr>
          <p:cNvPr id="9" name="Text 7"/>
          <p:cNvSpPr/>
          <p:nvPr/>
        </p:nvSpPr>
        <p:spPr>
          <a:xfrm>
            <a:off x="4434840" y="1600200"/>
            <a:ext cx="3520440" cy="457200"/>
          </a:xfrm>
          <a:prstGeom prst="rect">
            <a:avLst/>
          </a:prstGeom>
          <a:noFill/>
          <a:ln/>
        </p:spPr>
        <p:txBody>
          <a:bodyPr wrap="square" lIns="0" tIns="0" rIns="0" bIns="0" rtlCol="0" anchor="ctr"/>
          <a:lstStyle/>
          <a:p>
            <a:pPr marL="0" indent="0" algn="l">
              <a:buNone/>
            </a:pPr>
            <a:r>
              <a:rPr lang="en-US" sz="1600" b="1" dirty="0">
                <a:solidFill>
                  <a:srgbClr val="1E2761"/>
                </a:solidFill>
                <a:latin typeface="Calibri" pitchFamily="34" charset="0"/>
                <a:ea typeface="Calibri" pitchFamily="34" charset="-122"/>
                <a:cs typeface="Calibri" pitchFamily="34" charset="-120"/>
              </a:rPr>
              <a:t>Source-Side Filtering</a:t>
            </a:r>
            <a:endParaRPr lang="en-US" sz="1600" dirty="0"/>
          </a:p>
        </p:txBody>
      </p:sp>
      <p:sp>
        <p:nvSpPr>
          <p:cNvPr id="10" name="Text 8"/>
          <p:cNvSpPr/>
          <p:nvPr/>
        </p:nvSpPr>
        <p:spPr>
          <a:xfrm>
            <a:off x="4434840" y="2057400"/>
            <a:ext cx="3520440" cy="822960"/>
          </a:xfrm>
          <a:prstGeom prst="rect">
            <a:avLst/>
          </a:prstGeom>
          <a:noFill/>
          <a:ln/>
        </p:spPr>
        <p:txBody>
          <a:bodyPr wrap="square" lIns="0" tIns="0" rIns="0" bIns="0" rtlCol="0" anchor="ctr"/>
          <a:lstStyle/>
          <a:p>
            <a:pPr marL="0" indent="0" algn="l">
              <a:buNone/>
            </a:pPr>
            <a:r>
              <a:rPr lang="en-US" sz="1200" dirty="0">
                <a:solidFill>
                  <a:srgbClr val="1E2761"/>
                </a:solidFill>
                <a:latin typeface="Calibri" pitchFamily="34" charset="0"/>
                <a:ea typeface="Calibri" pitchFamily="34" charset="-122"/>
                <a:cs typeface="Calibri" pitchFamily="34" charset="-120"/>
              </a:rPr>
              <a:t>Cut 2M domestic rows down to 608k before loading.</a:t>
            </a:r>
            <a:endParaRPr lang="en-US" sz="1200" dirty="0"/>
          </a:p>
        </p:txBody>
      </p:sp>
      <p:sp>
        <p:nvSpPr>
          <p:cNvPr id="11" name="Shape 9"/>
          <p:cNvSpPr/>
          <p:nvPr/>
        </p:nvSpPr>
        <p:spPr>
          <a:xfrm>
            <a:off x="4114800" y="3154680"/>
            <a:ext cx="182880" cy="182880"/>
          </a:xfrm>
          <a:prstGeom prst="ellipse">
            <a:avLst/>
          </a:prstGeom>
          <a:solidFill>
            <a:srgbClr val="1E2761"/>
          </a:solidFill>
          <a:ln w="12700">
            <a:solidFill>
              <a:srgbClr val="1E2761"/>
            </a:solidFill>
            <a:prstDash val="solid"/>
          </a:ln>
        </p:spPr>
        <p:txBody>
          <a:bodyPr/>
          <a:lstStyle/>
          <a:p>
            <a:endParaRPr lang="en-US"/>
          </a:p>
        </p:txBody>
      </p:sp>
      <p:sp>
        <p:nvSpPr>
          <p:cNvPr id="12" name="Text 10"/>
          <p:cNvSpPr/>
          <p:nvPr/>
        </p:nvSpPr>
        <p:spPr>
          <a:xfrm>
            <a:off x="502920" y="3017520"/>
            <a:ext cx="3520440" cy="457200"/>
          </a:xfrm>
          <a:prstGeom prst="rect">
            <a:avLst/>
          </a:prstGeom>
          <a:noFill/>
          <a:ln/>
        </p:spPr>
        <p:txBody>
          <a:bodyPr wrap="square" lIns="0" tIns="0" rIns="0" bIns="0" rtlCol="0" anchor="ctr"/>
          <a:lstStyle/>
          <a:p>
            <a:pPr marL="0" indent="0" algn="r">
              <a:buNone/>
            </a:pPr>
            <a:r>
              <a:rPr lang="en-US" sz="1600" b="1" dirty="0">
                <a:solidFill>
                  <a:srgbClr val="1E2761"/>
                </a:solidFill>
                <a:latin typeface="Calibri" pitchFamily="34" charset="0"/>
                <a:ea typeface="Calibri" pitchFamily="34" charset="-122"/>
                <a:cs typeface="Calibri" pitchFamily="34" charset="-120"/>
              </a:rPr>
              <a:t>Data Pointers</a:t>
            </a:r>
            <a:endParaRPr lang="en-US" sz="1600" dirty="0"/>
          </a:p>
        </p:txBody>
      </p:sp>
      <p:sp>
        <p:nvSpPr>
          <p:cNvPr id="13" name="Text 11"/>
          <p:cNvSpPr/>
          <p:nvPr/>
        </p:nvSpPr>
        <p:spPr>
          <a:xfrm>
            <a:off x="502920" y="3474720"/>
            <a:ext cx="3520440" cy="822960"/>
          </a:xfrm>
          <a:prstGeom prst="rect">
            <a:avLst/>
          </a:prstGeom>
          <a:noFill/>
          <a:ln/>
        </p:spPr>
        <p:txBody>
          <a:bodyPr wrap="square" lIns="0" tIns="0" rIns="0" bIns="0" rtlCol="0" anchor="ctr"/>
          <a:lstStyle/>
          <a:p>
            <a:pPr marL="0" indent="0" algn="r">
              <a:buNone/>
            </a:pPr>
            <a:r>
              <a:rPr lang="en-US" sz="1200" dirty="0">
                <a:solidFill>
                  <a:srgbClr val="1E2761"/>
                </a:solidFill>
                <a:latin typeface="Calibri" pitchFamily="34" charset="0"/>
                <a:ea typeface="Calibri" pitchFamily="34" charset="-122"/>
                <a:cs typeface="Calibri" pitchFamily="34" charset="-120"/>
              </a:rPr>
              <a:t>Cameron County and Atlanta emerged from the data, not from a guess.</a:t>
            </a:r>
            <a:endParaRPr lang="en-US" sz="1200" dirty="0"/>
          </a:p>
        </p:txBody>
      </p:sp>
      <p:sp>
        <p:nvSpPr>
          <p:cNvPr id="14" name="Shape 12"/>
          <p:cNvSpPr/>
          <p:nvPr/>
        </p:nvSpPr>
        <p:spPr>
          <a:xfrm>
            <a:off x="4114800" y="3154680"/>
            <a:ext cx="182880" cy="182880"/>
          </a:xfrm>
          <a:prstGeom prst="ellipse">
            <a:avLst/>
          </a:prstGeom>
          <a:solidFill>
            <a:srgbClr val="1E2761"/>
          </a:solidFill>
          <a:ln w="12700">
            <a:solidFill>
              <a:srgbClr val="1E2761"/>
            </a:solidFill>
            <a:prstDash val="solid"/>
          </a:ln>
        </p:spPr>
        <p:txBody>
          <a:bodyPr/>
          <a:lstStyle/>
          <a:p>
            <a:endParaRPr lang="en-US"/>
          </a:p>
        </p:txBody>
      </p:sp>
      <p:sp>
        <p:nvSpPr>
          <p:cNvPr id="15" name="Text 13"/>
          <p:cNvSpPr/>
          <p:nvPr/>
        </p:nvSpPr>
        <p:spPr>
          <a:xfrm>
            <a:off x="4434840" y="3017520"/>
            <a:ext cx="3520440" cy="457200"/>
          </a:xfrm>
          <a:prstGeom prst="rect">
            <a:avLst/>
          </a:prstGeom>
          <a:noFill/>
          <a:ln/>
        </p:spPr>
        <p:txBody>
          <a:bodyPr wrap="square" lIns="0" tIns="0" rIns="0" bIns="0" rtlCol="0" anchor="ctr"/>
          <a:lstStyle/>
          <a:p>
            <a:pPr marL="0" indent="0" algn="l">
              <a:buNone/>
            </a:pPr>
            <a:r>
              <a:rPr lang="en-US" sz="1600" b="1" dirty="0">
                <a:solidFill>
                  <a:srgbClr val="1E2761"/>
                </a:solidFill>
                <a:latin typeface="Calibri" pitchFamily="34" charset="0"/>
                <a:ea typeface="Calibri" pitchFamily="34" charset="-122"/>
                <a:cs typeface="Calibri" pitchFamily="34" charset="-120"/>
              </a:rPr>
              <a:t>Right-Sized Scope</a:t>
            </a:r>
            <a:endParaRPr lang="en-US" sz="1600" dirty="0"/>
          </a:p>
        </p:txBody>
      </p:sp>
      <p:sp>
        <p:nvSpPr>
          <p:cNvPr id="16" name="Text 14"/>
          <p:cNvSpPr/>
          <p:nvPr/>
        </p:nvSpPr>
        <p:spPr>
          <a:xfrm>
            <a:off x="4434840" y="3474720"/>
            <a:ext cx="3520440" cy="822960"/>
          </a:xfrm>
          <a:prstGeom prst="rect">
            <a:avLst/>
          </a:prstGeom>
          <a:noFill/>
          <a:ln/>
        </p:spPr>
        <p:txBody>
          <a:bodyPr wrap="square" lIns="0" tIns="0" rIns="0" bIns="0" rtlCol="0" anchor="ctr"/>
          <a:lstStyle/>
          <a:p>
            <a:pPr marL="0" indent="0" algn="l">
              <a:buNone/>
            </a:pPr>
            <a:r>
              <a:rPr lang="en-US" sz="1200" dirty="0">
                <a:solidFill>
                  <a:srgbClr val="1E2761"/>
                </a:solidFill>
                <a:latin typeface="Calibri" pitchFamily="34" charset="0"/>
                <a:ea typeface="Calibri" pitchFamily="34" charset="-122"/>
                <a:cs typeface="Calibri" pitchFamily="34" charset="-120"/>
              </a:rPr>
              <a:t>NumPy risk scoring instead of overreaching with ML.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1EAD8"/>
        </a:solidFill>
        <a:effectLst/>
      </p:bgPr>
    </p:bg>
    <p:spTree>
      <p:nvGrpSpPr>
        <p:cNvPr id="1" name=""/>
        <p:cNvGrpSpPr/>
        <p:nvPr/>
      </p:nvGrpSpPr>
      <p:grpSpPr>
        <a:xfrm>
          <a:off x="0" y="0"/>
          <a:ext cx="0" cy="0"/>
          <a:chOff x="0" y="0"/>
          <a:chExt cx="0" cy="0"/>
        </a:xfrm>
      </p:grpSpPr>
      <p:sp>
        <p:nvSpPr>
          <p:cNvPr id="2" name="Shape 0"/>
          <p:cNvSpPr/>
          <p:nvPr/>
        </p:nvSpPr>
        <p:spPr>
          <a:xfrm>
            <a:off x="8686800" y="365760"/>
            <a:ext cx="320040" cy="4434840"/>
          </a:xfrm>
          <a:prstGeom prst="rect">
            <a:avLst/>
          </a:prstGeom>
          <a:solidFill>
            <a:srgbClr val="1A2253"/>
          </a:solidFill>
          <a:ln w="12700">
            <a:solidFill>
              <a:srgbClr val="1A2253"/>
            </a:solidFill>
            <a:prstDash val="solid"/>
          </a:ln>
        </p:spPr>
        <p:txBody>
          <a:bodyPr/>
          <a:lstStyle/>
          <a:p>
            <a:endParaRPr lang="en-US"/>
          </a:p>
        </p:txBody>
      </p:sp>
      <p:sp>
        <p:nvSpPr>
          <p:cNvPr id="3" name="Text 1"/>
          <p:cNvSpPr/>
          <p:nvPr/>
        </p:nvSpPr>
        <p:spPr>
          <a:xfrm>
            <a:off x="502920" y="640080"/>
            <a:ext cx="4114800" cy="777240"/>
          </a:xfrm>
          <a:prstGeom prst="rect">
            <a:avLst/>
          </a:prstGeom>
          <a:noFill/>
          <a:ln/>
        </p:spPr>
        <p:txBody>
          <a:bodyPr wrap="square" lIns="0" tIns="0" rIns="0" bIns="0" rtlCol="0" anchor="ctr"/>
          <a:lstStyle/>
          <a:p>
            <a:pPr marL="0" indent="0">
              <a:buNone/>
            </a:pPr>
            <a:r>
              <a:rPr lang="en-US" sz="3600" b="1" kern="0" spc="100" dirty="0">
                <a:solidFill>
                  <a:srgbClr val="1E2761"/>
                </a:solidFill>
                <a:latin typeface="Arial Black" pitchFamily="34" charset="0"/>
                <a:ea typeface="Arial Black" pitchFamily="34" charset="-122"/>
                <a:cs typeface="Arial Black" pitchFamily="34" charset="-120"/>
              </a:rPr>
              <a:t>WHAT WENT</a:t>
            </a:r>
            <a:endParaRPr lang="en-US" sz="3600" dirty="0"/>
          </a:p>
        </p:txBody>
      </p:sp>
      <p:sp>
        <p:nvSpPr>
          <p:cNvPr id="4" name="Text 2"/>
          <p:cNvSpPr/>
          <p:nvPr/>
        </p:nvSpPr>
        <p:spPr>
          <a:xfrm>
            <a:off x="502920" y="1371600"/>
            <a:ext cx="4114800" cy="777240"/>
          </a:xfrm>
          <a:prstGeom prst="rect">
            <a:avLst/>
          </a:prstGeom>
          <a:noFill/>
          <a:ln/>
        </p:spPr>
        <p:txBody>
          <a:bodyPr wrap="square" lIns="0" tIns="0" rIns="0" bIns="0" rtlCol="0" anchor="ctr"/>
          <a:lstStyle/>
          <a:p>
            <a:pPr marL="0" indent="0">
              <a:buNone/>
            </a:pPr>
            <a:r>
              <a:rPr lang="en-US" sz="3600" b="1" kern="0" spc="100" dirty="0">
                <a:solidFill>
                  <a:srgbClr val="1E2761"/>
                </a:solidFill>
                <a:latin typeface="Arial Black" pitchFamily="34" charset="0"/>
                <a:ea typeface="Arial Black" pitchFamily="34" charset="-122"/>
                <a:cs typeface="Arial Black" pitchFamily="34" charset="-120"/>
              </a:rPr>
              <a:t>WRONG</a:t>
            </a:r>
            <a:endParaRPr lang="en-US" sz="3600" dirty="0"/>
          </a:p>
        </p:txBody>
      </p:sp>
      <p:sp>
        <p:nvSpPr>
          <p:cNvPr id="5" name="Text 3"/>
          <p:cNvSpPr/>
          <p:nvPr/>
        </p:nvSpPr>
        <p:spPr>
          <a:xfrm>
            <a:off x="4297680" y="914400"/>
            <a:ext cx="1325880" cy="36576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Auth Wall</a:t>
            </a:r>
            <a:endParaRPr lang="en-US" sz="1300" dirty="0"/>
          </a:p>
        </p:txBody>
      </p:sp>
      <p:sp>
        <p:nvSpPr>
          <p:cNvPr id="6" name="Text 4"/>
          <p:cNvSpPr/>
          <p:nvPr/>
        </p:nvSpPr>
        <p:spPr>
          <a:xfrm>
            <a:off x="4297680" y="1280160"/>
            <a:ext cx="1325880" cy="960120"/>
          </a:xfrm>
          <a:prstGeom prst="rect">
            <a:avLst/>
          </a:prstGeom>
          <a:noFill/>
          <a:ln/>
        </p:spPr>
        <p:txBody>
          <a:bodyPr wrap="square" lIns="0" tIns="0" rIns="0" bIns="0" rtlCol="0" anchor="ctr"/>
          <a:lstStyle/>
          <a:p>
            <a:pPr marL="0" indent="0">
              <a:buNone/>
            </a:pPr>
            <a:r>
              <a:rPr lang="en-US" sz="900" dirty="0">
                <a:solidFill>
                  <a:srgbClr val="1E2761"/>
                </a:solidFill>
                <a:latin typeface="Calibri" pitchFamily="34" charset="0"/>
                <a:ea typeface="Calibri" pitchFamily="34" charset="-122"/>
                <a:cs typeface="Calibri" pitchFamily="34" charset="-120"/>
              </a:rPr>
              <a:t>Token Required (499) on first REST call. Pivoted to the Python library.</a:t>
            </a:r>
            <a:endParaRPr lang="en-US" sz="900" dirty="0"/>
          </a:p>
        </p:txBody>
      </p:sp>
      <p:sp>
        <p:nvSpPr>
          <p:cNvPr id="7" name="Text 5"/>
          <p:cNvSpPr/>
          <p:nvPr/>
        </p:nvSpPr>
        <p:spPr>
          <a:xfrm>
            <a:off x="5715000" y="914400"/>
            <a:ext cx="1325880" cy="36576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Cold Load</a:t>
            </a:r>
            <a:endParaRPr lang="en-US" sz="1300" dirty="0"/>
          </a:p>
        </p:txBody>
      </p:sp>
      <p:sp>
        <p:nvSpPr>
          <p:cNvPr id="8" name="Text 6"/>
          <p:cNvSpPr/>
          <p:nvPr/>
        </p:nvSpPr>
        <p:spPr>
          <a:xfrm>
            <a:off x="5715000" y="1280160"/>
            <a:ext cx="1325880" cy="960120"/>
          </a:xfrm>
          <a:prstGeom prst="rect">
            <a:avLst/>
          </a:prstGeom>
          <a:noFill/>
          <a:ln/>
        </p:spPr>
        <p:txBody>
          <a:bodyPr wrap="square" lIns="0" tIns="0" rIns="0" bIns="0" rtlCol="0" anchor="ctr"/>
          <a:lstStyle/>
          <a:p>
            <a:pPr marL="0" indent="0">
              <a:buNone/>
            </a:pPr>
            <a:r>
              <a:rPr lang="en-US" sz="900" dirty="0">
                <a:solidFill>
                  <a:srgbClr val="1E2761"/>
                </a:solidFill>
                <a:latin typeface="Calibri" pitchFamily="34" charset="0"/>
                <a:ea typeface="Calibri" pitchFamily="34" charset="-122"/>
                <a:cs typeface="Calibri" pitchFamily="34" charset="-120"/>
              </a:rPr>
              <a:t>2M domestic records hung the kernel for 30+ minutes.</a:t>
            </a:r>
            <a:endParaRPr lang="en-US" sz="900" dirty="0"/>
          </a:p>
        </p:txBody>
      </p:sp>
      <p:sp>
        <p:nvSpPr>
          <p:cNvPr id="9" name="Text 7"/>
          <p:cNvSpPr/>
          <p:nvPr/>
        </p:nvSpPr>
        <p:spPr>
          <a:xfrm>
            <a:off x="7132320" y="914400"/>
            <a:ext cx="1325880" cy="36576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Empty Filter</a:t>
            </a:r>
            <a:endParaRPr lang="en-US" sz="1300" dirty="0"/>
          </a:p>
        </p:txBody>
      </p:sp>
      <p:sp>
        <p:nvSpPr>
          <p:cNvPr id="10" name="Text 8"/>
          <p:cNvSpPr/>
          <p:nvPr/>
        </p:nvSpPr>
        <p:spPr>
          <a:xfrm>
            <a:off x="7132320" y="1280160"/>
            <a:ext cx="1325880" cy="960120"/>
          </a:xfrm>
          <a:prstGeom prst="rect">
            <a:avLst/>
          </a:prstGeom>
          <a:noFill/>
          <a:ln/>
        </p:spPr>
        <p:txBody>
          <a:bodyPr wrap="square" lIns="0" tIns="0" rIns="0" bIns="0" rtlCol="0" anchor="ctr"/>
          <a:lstStyle/>
          <a:p>
            <a:pPr marL="0" indent="0">
              <a:buNone/>
            </a:pPr>
            <a:r>
              <a:rPr lang="en-US" sz="900" dirty="0">
                <a:solidFill>
                  <a:srgbClr val="1E2761"/>
                </a:solidFill>
                <a:latin typeface="Calibri" pitchFamily="34" charset="0"/>
                <a:ea typeface="Calibri" pitchFamily="34" charset="-122"/>
                <a:cs typeface="Calibri" pitchFamily="34" charset="-120"/>
              </a:rPr>
              <a:t>Sample of 100 rows had zero matches for CA, TX, FL.</a:t>
            </a:r>
            <a:endParaRPr lang="en-US" sz="900" dirty="0"/>
          </a:p>
        </p:txBody>
      </p:sp>
      <p:sp>
        <p:nvSpPr>
          <p:cNvPr id="11" name="Text 9"/>
          <p:cNvSpPr/>
          <p:nvPr/>
        </p:nvSpPr>
        <p:spPr>
          <a:xfrm>
            <a:off x="4297680" y="2286000"/>
            <a:ext cx="1325880" cy="36576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Cross-Notebook</a:t>
            </a:r>
            <a:endParaRPr lang="en-US" sz="1300" dirty="0"/>
          </a:p>
        </p:txBody>
      </p:sp>
      <p:sp>
        <p:nvSpPr>
          <p:cNvPr id="12" name="Text 10"/>
          <p:cNvSpPr/>
          <p:nvPr/>
        </p:nvSpPr>
        <p:spPr>
          <a:xfrm>
            <a:off x="4297680" y="2651760"/>
            <a:ext cx="1325880" cy="960120"/>
          </a:xfrm>
          <a:prstGeom prst="rect">
            <a:avLst/>
          </a:prstGeom>
          <a:noFill/>
          <a:ln/>
        </p:spPr>
        <p:txBody>
          <a:bodyPr wrap="square" lIns="0" tIns="0" rIns="0" bIns="0" rtlCol="0" anchor="ctr"/>
          <a:lstStyle/>
          <a:p>
            <a:pPr marL="0" indent="0">
              <a:buNone/>
            </a:pPr>
            <a:r>
              <a:rPr lang="en-US" sz="900" dirty="0">
                <a:solidFill>
                  <a:srgbClr val="1E2761"/>
                </a:solidFill>
                <a:latin typeface="Calibri" pitchFamily="34" charset="0"/>
                <a:ea typeface="Calibri" pitchFamily="34" charset="-122"/>
                <a:cs typeface="Calibri" pitchFamily="34" charset="-120"/>
              </a:rPr>
              <a:t>detections_df undefined errors after splitting work.</a:t>
            </a:r>
            <a:endParaRPr lang="en-US" sz="900" dirty="0"/>
          </a:p>
        </p:txBody>
      </p:sp>
      <p:sp>
        <p:nvSpPr>
          <p:cNvPr id="13" name="Text 11"/>
          <p:cNvSpPr/>
          <p:nvPr/>
        </p:nvSpPr>
        <p:spPr>
          <a:xfrm>
            <a:off x="5715000" y="2286000"/>
            <a:ext cx="1325880" cy="36576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Late Visuals</a:t>
            </a:r>
            <a:endParaRPr lang="en-US" sz="1300" dirty="0"/>
          </a:p>
        </p:txBody>
      </p:sp>
      <p:sp>
        <p:nvSpPr>
          <p:cNvPr id="14" name="Text 12"/>
          <p:cNvSpPr/>
          <p:nvPr/>
        </p:nvSpPr>
        <p:spPr>
          <a:xfrm>
            <a:off x="5715000" y="2651760"/>
            <a:ext cx="1325880" cy="960120"/>
          </a:xfrm>
          <a:prstGeom prst="rect">
            <a:avLst/>
          </a:prstGeom>
          <a:noFill/>
          <a:ln/>
        </p:spPr>
        <p:txBody>
          <a:bodyPr wrap="square" lIns="0" tIns="0" rIns="0" bIns="0" rtlCol="0" anchor="ctr"/>
          <a:lstStyle/>
          <a:p>
            <a:pPr marL="0" indent="0">
              <a:buNone/>
            </a:pPr>
            <a:r>
              <a:rPr lang="en-US" sz="900" dirty="0">
                <a:solidFill>
                  <a:srgbClr val="1E2761"/>
                </a:solidFill>
                <a:latin typeface="Calibri" pitchFamily="34" charset="0"/>
                <a:ea typeface="Calibri" pitchFamily="34" charset="-122"/>
                <a:cs typeface="Calibri" pitchFamily="34" charset="-120"/>
              </a:rPr>
              <a:t>ArcGIS styling started near deadline, not at hour one.</a:t>
            </a:r>
            <a:endParaRPr lang="en-US" sz="900" dirty="0"/>
          </a:p>
        </p:txBody>
      </p:sp>
      <p:sp>
        <p:nvSpPr>
          <p:cNvPr id="15" name="Text 13"/>
          <p:cNvSpPr/>
          <p:nvPr/>
        </p:nvSpPr>
        <p:spPr>
          <a:xfrm>
            <a:off x="7132320" y="2286000"/>
            <a:ext cx="1325880" cy="36576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Scope Drift</a:t>
            </a:r>
            <a:endParaRPr lang="en-US" sz="1300" dirty="0"/>
          </a:p>
        </p:txBody>
      </p:sp>
      <p:sp>
        <p:nvSpPr>
          <p:cNvPr id="16" name="Text 14"/>
          <p:cNvSpPr/>
          <p:nvPr/>
        </p:nvSpPr>
        <p:spPr>
          <a:xfrm>
            <a:off x="7132320" y="2651760"/>
            <a:ext cx="1325880" cy="960120"/>
          </a:xfrm>
          <a:prstGeom prst="rect">
            <a:avLst/>
          </a:prstGeom>
          <a:noFill/>
          <a:ln/>
        </p:spPr>
        <p:txBody>
          <a:bodyPr wrap="square" lIns="0" tIns="0" rIns="0" bIns="0" rtlCol="0" anchor="ctr"/>
          <a:lstStyle/>
          <a:p>
            <a:pPr marL="0" indent="0">
              <a:buNone/>
            </a:pPr>
            <a:r>
              <a:rPr lang="en-US" sz="900" dirty="0">
                <a:solidFill>
                  <a:srgbClr val="1E2761"/>
                </a:solidFill>
                <a:latin typeface="Calibri" pitchFamily="34" charset="0"/>
                <a:ea typeface="Calibri" pitchFamily="34" charset="-122"/>
                <a:cs typeface="Calibri" pitchFamily="34" charset="-120"/>
              </a:rPr>
              <a:t>Briefly considered ML before honest team-skill check.</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1EAD8"/>
        </a:solidFill>
        <a:effectLst/>
      </p:bgPr>
    </p:bg>
    <p:spTree>
      <p:nvGrpSpPr>
        <p:cNvPr id="1" name=""/>
        <p:cNvGrpSpPr/>
        <p:nvPr/>
      </p:nvGrpSpPr>
      <p:grpSpPr>
        <a:xfrm>
          <a:off x="0" y="0"/>
          <a:ext cx="0" cy="0"/>
          <a:chOff x="0" y="0"/>
          <a:chExt cx="0" cy="0"/>
        </a:xfrm>
      </p:grpSpPr>
      <p:sp>
        <p:nvSpPr>
          <p:cNvPr id="2" name="Shape 0"/>
          <p:cNvSpPr/>
          <p:nvPr/>
        </p:nvSpPr>
        <p:spPr>
          <a:xfrm>
            <a:off x="8686800" y="365760"/>
            <a:ext cx="320040" cy="4434840"/>
          </a:xfrm>
          <a:prstGeom prst="rect">
            <a:avLst/>
          </a:prstGeom>
          <a:solidFill>
            <a:srgbClr val="1A2253"/>
          </a:solidFill>
          <a:ln w="12700">
            <a:solidFill>
              <a:srgbClr val="1A2253"/>
            </a:solidFill>
            <a:prstDash val="solid"/>
          </a:ln>
        </p:spPr>
        <p:txBody>
          <a:bodyPr/>
          <a:lstStyle/>
          <a:p>
            <a:endParaRPr lang="en-US"/>
          </a:p>
        </p:txBody>
      </p:sp>
      <p:sp>
        <p:nvSpPr>
          <p:cNvPr id="3" name="Text 1"/>
          <p:cNvSpPr/>
          <p:nvPr/>
        </p:nvSpPr>
        <p:spPr>
          <a:xfrm>
            <a:off x="502920" y="548640"/>
            <a:ext cx="4114800" cy="777240"/>
          </a:xfrm>
          <a:prstGeom prst="rect">
            <a:avLst/>
          </a:prstGeom>
          <a:noFill/>
          <a:ln/>
        </p:spPr>
        <p:txBody>
          <a:bodyPr wrap="square" lIns="0" tIns="0" rIns="0" bIns="0" rtlCol="0" anchor="ctr"/>
          <a:lstStyle/>
          <a:p>
            <a:pPr marL="0" indent="0">
              <a:buNone/>
            </a:pPr>
            <a:r>
              <a:rPr lang="en-US" sz="4400" b="1" kern="0" spc="100" dirty="0">
                <a:solidFill>
                  <a:srgbClr val="1E2761"/>
                </a:solidFill>
                <a:latin typeface="Arial Black" pitchFamily="34" charset="0"/>
                <a:ea typeface="Arial Black" pitchFamily="34" charset="-122"/>
                <a:cs typeface="Arial Black" pitchFamily="34" charset="-120"/>
              </a:rPr>
              <a:t>Visual</a:t>
            </a:r>
            <a:endParaRPr lang="en-US" sz="4400" dirty="0"/>
          </a:p>
        </p:txBody>
      </p:sp>
      <p:sp>
        <p:nvSpPr>
          <p:cNvPr id="4" name="Text 2"/>
          <p:cNvSpPr/>
          <p:nvPr/>
        </p:nvSpPr>
        <p:spPr>
          <a:xfrm>
            <a:off x="502920" y="1280160"/>
            <a:ext cx="4114800" cy="777240"/>
          </a:xfrm>
          <a:prstGeom prst="rect">
            <a:avLst/>
          </a:prstGeom>
          <a:noFill/>
          <a:ln/>
        </p:spPr>
        <p:txBody>
          <a:bodyPr wrap="square" lIns="0" tIns="0" rIns="0" bIns="0" rtlCol="0" anchor="ctr"/>
          <a:lstStyle/>
          <a:p>
            <a:pPr marL="0" indent="0">
              <a:buNone/>
            </a:pPr>
            <a:r>
              <a:rPr lang="en-US" sz="4400" b="1" kern="0" spc="100" dirty="0">
                <a:solidFill>
                  <a:srgbClr val="1E2761"/>
                </a:solidFill>
                <a:latin typeface="Arial Black" pitchFamily="34" charset="0"/>
                <a:ea typeface="Arial Black" pitchFamily="34" charset="-122"/>
                <a:cs typeface="Arial Black" pitchFamily="34" charset="-120"/>
              </a:rPr>
              <a:t>FINDINGS</a:t>
            </a:r>
            <a:endParaRPr lang="en-US" sz="4400" dirty="0"/>
          </a:p>
        </p:txBody>
      </p:sp>
      <p:sp>
        <p:nvSpPr>
          <p:cNvPr id="5" name="Text 3"/>
          <p:cNvSpPr/>
          <p:nvPr/>
        </p:nvSpPr>
        <p:spPr>
          <a:xfrm>
            <a:off x="502920" y="2468880"/>
            <a:ext cx="4114800" cy="2286000"/>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Fruit fly detections are not evenly distributed across the US. California, Texas, and Florida concentrate the bulk of recorded events. Cameron County and Zapata County, both on the Texas-Mexico border, showed the heaviest single-county detection counts. The Mexican fruit fly was the most-detected species in the dataset.</a:t>
            </a:r>
            <a:endParaRPr lang="en-US" sz="1100" dirty="0"/>
          </a:p>
        </p:txBody>
      </p:sp>
      <p:graphicFrame>
        <p:nvGraphicFramePr>
          <p:cNvPr id="6" name="Chart 0"/>
          <p:cNvGraphicFramePr/>
          <p:nvPr/>
        </p:nvGraphicFramePr>
        <p:xfrm>
          <a:off x="4937760" y="868680"/>
          <a:ext cx="3474720" cy="36576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EAD8"/>
        </a:solidFill>
        <a:effectLst/>
      </p:bgPr>
    </p:bg>
    <p:spTree>
      <p:nvGrpSpPr>
        <p:cNvPr id="1" name="">
          <a:extLst>
            <a:ext uri="{FF2B5EF4-FFF2-40B4-BE49-F238E27FC236}">
              <a16:creationId xmlns:a16="http://schemas.microsoft.com/office/drawing/2014/main" id="{73147466-F24A-C89B-4BC6-982C593156C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3F80DF8-D927-CD43-E341-F72EB6B3D4D8}"/>
              </a:ext>
            </a:extLst>
          </p:cNvPr>
          <p:cNvSpPr/>
          <p:nvPr/>
        </p:nvSpPr>
        <p:spPr>
          <a:xfrm>
            <a:off x="8686800" y="365760"/>
            <a:ext cx="320040" cy="4434840"/>
          </a:xfrm>
          <a:prstGeom prst="rect">
            <a:avLst/>
          </a:prstGeom>
          <a:solidFill>
            <a:srgbClr val="1A2253"/>
          </a:solidFill>
          <a:ln w="12700">
            <a:solidFill>
              <a:srgbClr val="1A2253"/>
            </a:solidFill>
            <a:prstDash val="solid"/>
          </a:ln>
        </p:spPr>
        <p:txBody>
          <a:bodyPr/>
          <a:lstStyle/>
          <a:p>
            <a:endParaRPr lang="en-US"/>
          </a:p>
        </p:txBody>
      </p:sp>
      <p:sp>
        <p:nvSpPr>
          <p:cNvPr id="3" name="Text 1">
            <a:extLst>
              <a:ext uri="{FF2B5EF4-FFF2-40B4-BE49-F238E27FC236}">
                <a16:creationId xmlns:a16="http://schemas.microsoft.com/office/drawing/2014/main" id="{87CFACF3-8EF7-F0BA-77B6-6BB9532BD826}"/>
              </a:ext>
            </a:extLst>
          </p:cNvPr>
          <p:cNvSpPr/>
          <p:nvPr/>
        </p:nvSpPr>
        <p:spPr>
          <a:xfrm>
            <a:off x="1294687" y="364093"/>
            <a:ext cx="6543673" cy="741887"/>
          </a:xfrm>
          <a:prstGeom prst="rect">
            <a:avLst/>
          </a:prstGeom>
          <a:noFill/>
          <a:ln/>
        </p:spPr>
        <p:txBody>
          <a:bodyPr wrap="square" lIns="0" tIns="0" rIns="0" bIns="0" rtlCol="0" anchor="ctr"/>
          <a:lstStyle/>
          <a:p>
            <a:pPr algn="ctr"/>
            <a:r>
              <a:rPr lang="en-US" sz="4400" b="1" kern="0" spc="100">
                <a:solidFill>
                  <a:srgbClr val="1E2761"/>
                </a:solidFill>
                <a:latin typeface="Arial Black"/>
              </a:rPr>
              <a:t>Map of Time vs Fruit Flies &amp; Flights</a:t>
            </a:r>
            <a:endParaRPr lang="en-US"/>
          </a:p>
        </p:txBody>
      </p:sp>
      <p:sp>
        <p:nvSpPr>
          <p:cNvPr id="4" name="Text 2">
            <a:extLst>
              <a:ext uri="{FF2B5EF4-FFF2-40B4-BE49-F238E27FC236}">
                <a16:creationId xmlns:a16="http://schemas.microsoft.com/office/drawing/2014/main" id="{BE0F8E89-2489-F9A8-C93F-2CCA25F4127B}"/>
              </a:ext>
            </a:extLst>
          </p:cNvPr>
          <p:cNvSpPr/>
          <p:nvPr/>
        </p:nvSpPr>
        <p:spPr>
          <a:xfrm>
            <a:off x="502920" y="1280160"/>
            <a:ext cx="4114800" cy="777240"/>
          </a:xfrm>
          <a:prstGeom prst="rect">
            <a:avLst/>
          </a:prstGeom>
          <a:noFill/>
          <a:ln/>
        </p:spPr>
        <p:txBody>
          <a:bodyPr wrap="square" lIns="0" tIns="0" rIns="0" bIns="0" rtlCol="0" anchor="ctr"/>
          <a:lstStyle/>
          <a:p>
            <a:pPr marL="0" indent="0">
              <a:buNone/>
            </a:pPr>
            <a:endParaRPr lang="en-US" sz="4400" b="1" kern="0" spc="100">
              <a:solidFill>
                <a:srgbClr val="1E2761"/>
              </a:solidFill>
              <a:latin typeface="Arial Black"/>
            </a:endParaRPr>
          </a:p>
        </p:txBody>
      </p:sp>
      <p:pic>
        <p:nvPicPr>
          <p:cNvPr id="7" name="Picture 6">
            <a:extLst>
              <a:ext uri="{FF2B5EF4-FFF2-40B4-BE49-F238E27FC236}">
                <a16:creationId xmlns:a16="http://schemas.microsoft.com/office/drawing/2014/main" id="{A28B258B-B1CF-EDAA-5E85-37588673FBE1}"/>
              </a:ext>
            </a:extLst>
          </p:cNvPr>
          <p:cNvPicPr>
            <a:picLocks noChangeAspect="1"/>
          </p:cNvPicPr>
          <p:nvPr/>
        </p:nvPicPr>
        <p:blipFill>
          <a:blip r:embed="rId3"/>
          <a:stretch>
            <a:fillRect/>
          </a:stretch>
        </p:blipFill>
        <p:spPr>
          <a:xfrm>
            <a:off x="1706725" y="1452562"/>
            <a:ext cx="5730551" cy="3512343"/>
          </a:xfrm>
          <a:prstGeom prst="rect">
            <a:avLst/>
          </a:prstGeom>
        </p:spPr>
      </p:pic>
    </p:spTree>
    <p:extLst>
      <p:ext uri="{BB962C8B-B14F-4D97-AF65-F5344CB8AC3E}">
        <p14:creationId xmlns:p14="http://schemas.microsoft.com/office/powerpoint/2010/main" val="655268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EAD8"/>
        </a:solidFill>
        <a:effectLst/>
      </p:bgPr>
    </p:bg>
    <p:spTree>
      <p:nvGrpSpPr>
        <p:cNvPr id="1" name=""/>
        <p:cNvGrpSpPr/>
        <p:nvPr/>
      </p:nvGrpSpPr>
      <p:grpSpPr>
        <a:xfrm>
          <a:off x="0" y="0"/>
          <a:ext cx="0" cy="0"/>
          <a:chOff x="0" y="0"/>
          <a:chExt cx="0" cy="0"/>
        </a:xfrm>
      </p:grpSpPr>
      <p:sp>
        <p:nvSpPr>
          <p:cNvPr id="2" name="Shape 0"/>
          <p:cNvSpPr/>
          <p:nvPr/>
        </p:nvSpPr>
        <p:spPr>
          <a:xfrm>
            <a:off x="8686800" y="365760"/>
            <a:ext cx="320040" cy="4434840"/>
          </a:xfrm>
          <a:prstGeom prst="rect">
            <a:avLst/>
          </a:prstGeom>
          <a:solidFill>
            <a:srgbClr val="1A2253"/>
          </a:solidFill>
          <a:ln w="12700">
            <a:solidFill>
              <a:srgbClr val="1A2253"/>
            </a:solidFill>
            <a:prstDash val="solid"/>
          </a:ln>
        </p:spPr>
        <p:txBody>
          <a:bodyPr/>
          <a:lstStyle/>
          <a:p>
            <a:endParaRPr lang="en-US"/>
          </a:p>
        </p:txBody>
      </p:sp>
      <p:sp>
        <p:nvSpPr>
          <p:cNvPr id="3" name="Text 1"/>
          <p:cNvSpPr/>
          <p:nvPr/>
        </p:nvSpPr>
        <p:spPr>
          <a:xfrm>
            <a:off x="502920" y="777240"/>
            <a:ext cx="4114800" cy="822960"/>
          </a:xfrm>
          <a:prstGeom prst="rect">
            <a:avLst/>
          </a:prstGeom>
          <a:noFill/>
          <a:ln/>
        </p:spPr>
        <p:txBody>
          <a:bodyPr wrap="square" lIns="0" tIns="0" rIns="0" bIns="0" rtlCol="0" anchor="ctr"/>
          <a:lstStyle/>
          <a:p>
            <a:pPr marL="0" indent="0">
              <a:buNone/>
            </a:pPr>
            <a:r>
              <a:rPr lang="en-US" sz="4400" b="1" kern="0" spc="100" dirty="0">
                <a:solidFill>
                  <a:srgbClr val="1E2761"/>
                </a:solidFill>
                <a:latin typeface="Arial Black" pitchFamily="34" charset="0"/>
                <a:ea typeface="Arial Black" pitchFamily="34" charset="-122"/>
                <a:cs typeface="Arial Black" pitchFamily="34" charset="-120"/>
              </a:rPr>
              <a:t>LESSONS</a:t>
            </a:r>
            <a:endParaRPr lang="en-US" sz="4400" dirty="0"/>
          </a:p>
        </p:txBody>
      </p:sp>
      <p:sp>
        <p:nvSpPr>
          <p:cNvPr id="4" name="Text 2"/>
          <p:cNvSpPr/>
          <p:nvPr/>
        </p:nvSpPr>
        <p:spPr>
          <a:xfrm>
            <a:off x="502920" y="1554480"/>
            <a:ext cx="4114800" cy="822960"/>
          </a:xfrm>
          <a:prstGeom prst="rect">
            <a:avLst/>
          </a:prstGeom>
          <a:noFill/>
          <a:ln/>
        </p:spPr>
        <p:txBody>
          <a:bodyPr wrap="square" lIns="0" tIns="0" rIns="0" bIns="0" rtlCol="0" anchor="ctr"/>
          <a:lstStyle/>
          <a:p>
            <a:pPr marL="0" indent="0">
              <a:buNone/>
            </a:pPr>
            <a:r>
              <a:rPr lang="en-US" sz="4400" b="1" kern="0" spc="100" dirty="0">
                <a:solidFill>
                  <a:srgbClr val="1E2761"/>
                </a:solidFill>
                <a:latin typeface="Arial Black" pitchFamily="34" charset="0"/>
                <a:ea typeface="Arial Black" pitchFamily="34" charset="-122"/>
                <a:cs typeface="Arial Black" pitchFamily="34" charset="-120"/>
              </a:rPr>
              <a:t>LEARNED</a:t>
            </a:r>
            <a:endParaRPr lang="en-US" sz="4400" dirty="0"/>
          </a:p>
        </p:txBody>
      </p:sp>
      <p:sp>
        <p:nvSpPr>
          <p:cNvPr id="5" name="Shape 3"/>
          <p:cNvSpPr/>
          <p:nvPr/>
        </p:nvSpPr>
        <p:spPr>
          <a:xfrm>
            <a:off x="4937760" y="932688"/>
            <a:ext cx="411480" cy="411480"/>
          </a:xfrm>
          <a:prstGeom prst="ellipse">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4937760" y="932688"/>
            <a:ext cx="411480" cy="411480"/>
          </a:xfrm>
          <a:prstGeom prst="rect">
            <a:avLst/>
          </a:prstGeom>
          <a:noFill/>
          <a:ln/>
        </p:spPr>
        <p:txBody>
          <a:bodyPr wrap="square" lIns="0" tIns="0" rIns="0" bIns="0" rtlCol="0" anchor="ctr"/>
          <a:lstStyle/>
          <a:p>
            <a:pPr marL="0" indent="0" algn="ctr">
              <a:buNone/>
            </a:pPr>
            <a:r>
              <a:rPr lang="en-US" sz="1600" b="1" dirty="0">
                <a:solidFill>
                  <a:srgbClr val="F1EAD8"/>
                </a:solidFill>
                <a:latin typeface="Arial Black" pitchFamily="34" charset="0"/>
                <a:ea typeface="Arial Black" pitchFamily="34" charset="-122"/>
                <a:cs typeface="Arial Black" pitchFamily="34" charset="-120"/>
              </a:rPr>
              <a:t>1</a:t>
            </a:r>
            <a:endParaRPr lang="en-US" sz="1600" dirty="0"/>
          </a:p>
        </p:txBody>
      </p:sp>
      <p:sp>
        <p:nvSpPr>
          <p:cNvPr id="7" name="Text 5"/>
          <p:cNvSpPr/>
          <p:nvPr/>
        </p:nvSpPr>
        <p:spPr>
          <a:xfrm>
            <a:off x="5486400" y="868680"/>
            <a:ext cx="3017520" cy="77724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Match the prompt to the team you actually have, not the team you wish you had.</a:t>
            </a:r>
            <a:endParaRPr lang="en-US" sz="1200" dirty="0"/>
          </a:p>
        </p:txBody>
      </p:sp>
      <p:sp>
        <p:nvSpPr>
          <p:cNvPr id="8" name="Shape 6"/>
          <p:cNvSpPr/>
          <p:nvPr/>
        </p:nvSpPr>
        <p:spPr>
          <a:xfrm>
            <a:off x="4937760" y="1847088"/>
            <a:ext cx="411480" cy="411480"/>
          </a:xfrm>
          <a:prstGeom prst="ellipse">
            <a:avLst/>
          </a:prstGeom>
          <a:solidFill>
            <a:srgbClr val="1E2761"/>
          </a:solidFill>
          <a:ln w="12700">
            <a:solidFill>
              <a:srgbClr val="1E2761"/>
            </a:solidFill>
            <a:prstDash val="solid"/>
          </a:ln>
        </p:spPr>
        <p:txBody>
          <a:bodyPr/>
          <a:lstStyle/>
          <a:p>
            <a:endParaRPr lang="en-US"/>
          </a:p>
        </p:txBody>
      </p:sp>
      <p:sp>
        <p:nvSpPr>
          <p:cNvPr id="9" name="Text 7"/>
          <p:cNvSpPr/>
          <p:nvPr/>
        </p:nvSpPr>
        <p:spPr>
          <a:xfrm>
            <a:off x="4937760" y="1847088"/>
            <a:ext cx="411480" cy="411480"/>
          </a:xfrm>
          <a:prstGeom prst="rect">
            <a:avLst/>
          </a:prstGeom>
          <a:noFill/>
          <a:ln/>
        </p:spPr>
        <p:txBody>
          <a:bodyPr wrap="square" lIns="0" tIns="0" rIns="0" bIns="0" rtlCol="0" anchor="ctr"/>
          <a:lstStyle/>
          <a:p>
            <a:pPr marL="0" indent="0" algn="ctr">
              <a:buNone/>
            </a:pPr>
            <a:r>
              <a:rPr lang="en-US" sz="1600" b="1" dirty="0">
                <a:solidFill>
                  <a:srgbClr val="F1EAD8"/>
                </a:solidFill>
                <a:latin typeface="Arial Black" pitchFamily="34" charset="0"/>
                <a:ea typeface="Arial Black" pitchFamily="34" charset="-122"/>
                <a:cs typeface="Arial Black" pitchFamily="34" charset="-120"/>
              </a:rPr>
              <a:t>2</a:t>
            </a:r>
            <a:endParaRPr lang="en-US" sz="1600" dirty="0"/>
          </a:p>
        </p:txBody>
      </p:sp>
      <p:sp>
        <p:nvSpPr>
          <p:cNvPr id="10" name="Text 8"/>
          <p:cNvSpPr/>
          <p:nvPr/>
        </p:nvSpPr>
        <p:spPr>
          <a:xfrm>
            <a:off x="5486400" y="1783080"/>
            <a:ext cx="3017520" cy="77724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Push compute to the source — REST and SQL filters beat post-load filtering every time.</a:t>
            </a:r>
            <a:endParaRPr lang="en-US" sz="1200" dirty="0"/>
          </a:p>
        </p:txBody>
      </p:sp>
      <p:sp>
        <p:nvSpPr>
          <p:cNvPr id="11" name="Shape 9"/>
          <p:cNvSpPr/>
          <p:nvPr/>
        </p:nvSpPr>
        <p:spPr>
          <a:xfrm>
            <a:off x="4937760" y="2761488"/>
            <a:ext cx="411480" cy="411480"/>
          </a:xfrm>
          <a:prstGeom prst="ellipse">
            <a:avLst/>
          </a:prstGeom>
          <a:solidFill>
            <a:srgbClr val="1E2761"/>
          </a:solidFill>
          <a:ln w="12700">
            <a:solidFill>
              <a:srgbClr val="1E2761"/>
            </a:solidFill>
            <a:prstDash val="solid"/>
          </a:ln>
        </p:spPr>
        <p:txBody>
          <a:bodyPr/>
          <a:lstStyle/>
          <a:p>
            <a:endParaRPr lang="en-US"/>
          </a:p>
        </p:txBody>
      </p:sp>
      <p:sp>
        <p:nvSpPr>
          <p:cNvPr id="12" name="Text 10"/>
          <p:cNvSpPr/>
          <p:nvPr/>
        </p:nvSpPr>
        <p:spPr>
          <a:xfrm>
            <a:off x="4937760" y="2761488"/>
            <a:ext cx="411480" cy="411480"/>
          </a:xfrm>
          <a:prstGeom prst="rect">
            <a:avLst/>
          </a:prstGeom>
          <a:noFill/>
          <a:ln/>
        </p:spPr>
        <p:txBody>
          <a:bodyPr wrap="square" lIns="0" tIns="0" rIns="0" bIns="0" rtlCol="0" anchor="ctr"/>
          <a:lstStyle/>
          <a:p>
            <a:pPr marL="0" indent="0" algn="ctr">
              <a:buNone/>
            </a:pPr>
            <a:r>
              <a:rPr lang="en-US" sz="1600" b="1" dirty="0">
                <a:solidFill>
                  <a:srgbClr val="F1EAD8"/>
                </a:solidFill>
                <a:latin typeface="Arial Black" pitchFamily="34" charset="0"/>
                <a:ea typeface="Arial Black" pitchFamily="34" charset="-122"/>
                <a:cs typeface="Arial Black" pitchFamily="34" charset="-120"/>
              </a:rPr>
              <a:t>3</a:t>
            </a:r>
            <a:endParaRPr lang="en-US" sz="1600" dirty="0"/>
          </a:p>
        </p:txBody>
      </p:sp>
      <p:sp>
        <p:nvSpPr>
          <p:cNvPr id="13" name="Text 11"/>
          <p:cNvSpPr/>
          <p:nvPr/>
        </p:nvSpPr>
        <p:spPr>
          <a:xfrm>
            <a:off x="5486400" y="2697480"/>
            <a:ext cx="3017520" cy="77724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Visualization needs its own track from hour one, not a final-hour scramble.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EAD8"/>
        </a:solidFill>
        <a:effectLst/>
      </p:bgPr>
    </p:bg>
    <p:spTree>
      <p:nvGrpSpPr>
        <p:cNvPr id="1" name=""/>
        <p:cNvGrpSpPr/>
        <p:nvPr/>
      </p:nvGrpSpPr>
      <p:grpSpPr>
        <a:xfrm>
          <a:off x="0" y="0"/>
          <a:ext cx="0" cy="0"/>
          <a:chOff x="0" y="0"/>
          <a:chExt cx="0" cy="0"/>
        </a:xfrm>
      </p:grpSpPr>
      <p:sp>
        <p:nvSpPr>
          <p:cNvPr id="2" name="Shape 0"/>
          <p:cNvSpPr/>
          <p:nvPr/>
        </p:nvSpPr>
        <p:spPr>
          <a:xfrm>
            <a:off x="8686800" y="365760"/>
            <a:ext cx="320040" cy="4434840"/>
          </a:xfrm>
          <a:prstGeom prst="rect">
            <a:avLst/>
          </a:prstGeom>
          <a:solidFill>
            <a:srgbClr val="1A2253"/>
          </a:solidFill>
          <a:ln w="12700">
            <a:solidFill>
              <a:srgbClr val="1A2253"/>
            </a:solidFill>
            <a:prstDash val="solid"/>
          </a:ln>
        </p:spPr>
        <p:txBody>
          <a:bodyPr/>
          <a:lstStyle/>
          <a:p>
            <a:endParaRPr lang="en-US"/>
          </a:p>
        </p:txBody>
      </p:sp>
      <p:sp>
        <p:nvSpPr>
          <p:cNvPr id="3" name="Text 1"/>
          <p:cNvSpPr/>
          <p:nvPr/>
        </p:nvSpPr>
        <p:spPr>
          <a:xfrm>
            <a:off x="502920" y="502920"/>
            <a:ext cx="7955280" cy="822960"/>
          </a:xfrm>
          <a:prstGeom prst="rect">
            <a:avLst/>
          </a:prstGeom>
          <a:noFill/>
          <a:ln/>
        </p:spPr>
        <p:txBody>
          <a:bodyPr wrap="square" lIns="0" tIns="0" rIns="0" bIns="0" rtlCol="0" anchor="ctr"/>
          <a:lstStyle/>
          <a:p>
            <a:pPr marL="0" indent="0">
              <a:buNone/>
            </a:pPr>
            <a:r>
              <a:rPr lang="en-US" sz="4400" b="1" kern="0" spc="100" dirty="0">
                <a:solidFill>
                  <a:srgbClr val="1E2761"/>
                </a:solidFill>
                <a:latin typeface="Arial Black" pitchFamily="34" charset="0"/>
                <a:ea typeface="Arial Black" pitchFamily="34" charset="-122"/>
                <a:cs typeface="Arial Black" pitchFamily="34" charset="-120"/>
              </a:rPr>
              <a:t>WHAT'S NEXT</a:t>
            </a:r>
            <a:endParaRPr lang="en-US" sz="4400" dirty="0"/>
          </a:p>
        </p:txBody>
      </p:sp>
      <p:sp>
        <p:nvSpPr>
          <p:cNvPr id="4" name="Text 2"/>
          <p:cNvSpPr/>
          <p:nvPr/>
        </p:nvSpPr>
        <p:spPr>
          <a:xfrm>
            <a:off x="502920" y="1417320"/>
            <a:ext cx="7955280" cy="365760"/>
          </a:xfrm>
          <a:prstGeom prst="rect">
            <a:avLst/>
          </a:prstGeom>
          <a:noFill/>
          <a:ln/>
        </p:spPr>
        <p:txBody>
          <a:bodyPr wrap="square" lIns="0" tIns="0" rIns="0" bIns="0" rtlCol="0" anchor="ctr"/>
          <a:lstStyle/>
          <a:p>
            <a:pPr marL="0" indent="0">
              <a:buNone/>
            </a:pPr>
            <a:r>
              <a:rPr lang="en-US" sz="1400" i="1" dirty="0">
                <a:solidFill>
                  <a:srgbClr val="1E2761"/>
                </a:solidFill>
                <a:latin typeface="Calibri" pitchFamily="34" charset="0"/>
                <a:ea typeface="Calibri" pitchFamily="34" charset="-122"/>
                <a:cs typeface="Calibri" pitchFamily="34" charset="-120"/>
              </a:rPr>
              <a:t>With more time, this is what the analysis becomes:</a:t>
            </a:r>
            <a:endParaRPr lang="en-US" sz="1400" dirty="0"/>
          </a:p>
        </p:txBody>
      </p:sp>
      <p:sp>
        <p:nvSpPr>
          <p:cNvPr id="5" name="Text 3"/>
          <p:cNvSpPr/>
          <p:nvPr/>
        </p:nvSpPr>
        <p:spPr>
          <a:xfrm>
            <a:off x="502920" y="1965960"/>
            <a:ext cx="365760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Layer In Pest-Presence Data</a:t>
            </a:r>
            <a:endParaRPr lang="en-US" sz="1400" dirty="0"/>
          </a:p>
        </p:txBody>
      </p:sp>
      <p:sp>
        <p:nvSpPr>
          <p:cNvPr id="6" name="Text 4"/>
          <p:cNvSpPr/>
          <p:nvPr/>
        </p:nvSpPr>
        <p:spPr>
          <a:xfrm>
            <a:off x="502920" y="2350008"/>
            <a:ext cx="3657600" cy="914400"/>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Cross-reference origin countries against non-provided databases to weight passenger volumes by actual fruit fly populations at the source.</a:t>
            </a:r>
            <a:endParaRPr lang="en-US" sz="1100" dirty="0"/>
          </a:p>
        </p:txBody>
      </p:sp>
      <p:sp>
        <p:nvSpPr>
          <p:cNvPr id="7" name="Text 5"/>
          <p:cNvSpPr/>
          <p:nvPr/>
        </p:nvSpPr>
        <p:spPr>
          <a:xfrm>
            <a:off x="4526280" y="1965960"/>
            <a:ext cx="365760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Add Commodity-Specific Risk</a:t>
            </a:r>
            <a:endParaRPr lang="en-US" sz="1400" dirty="0"/>
          </a:p>
        </p:txBody>
      </p:sp>
      <p:sp>
        <p:nvSpPr>
          <p:cNvPr id="8" name="Text 6"/>
          <p:cNvSpPr/>
          <p:nvPr/>
        </p:nvSpPr>
        <p:spPr>
          <a:xfrm>
            <a:off x="4526280" y="2350008"/>
            <a:ext cx="3657600" cy="914400"/>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Pull USDA FAS agricultural import data so risk reflects host material volume like mango, citrus, stone fruit and not only human passenger count.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EAD8"/>
        </a:solidFill>
        <a:effectLst/>
      </p:bgPr>
    </p:bg>
    <p:spTree>
      <p:nvGrpSpPr>
        <p:cNvPr id="1" name=""/>
        <p:cNvGrpSpPr/>
        <p:nvPr/>
      </p:nvGrpSpPr>
      <p:grpSpPr>
        <a:xfrm>
          <a:off x="0" y="0"/>
          <a:ext cx="0" cy="0"/>
          <a:chOff x="0" y="0"/>
          <a:chExt cx="0" cy="0"/>
        </a:xfrm>
      </p:grpSpPr>
      <p:sp>
        <p:nvSpPr>
          <p:cNvPr id="2" name="Shape 0"/>
          <p:cNvSpPr/>
          <p:nvPr/>
        </p:nvSpPr>
        <p:spPr>
          <a:xfrm>
            <a:off x="8686800" y="365760"/>
            <a:ext cx="320040" cy="4434840"/>
          </a:xfrm>
          <a:prstGeom prst="rect">
            <a:avLst/>
          </a:prstGeom>
          <a:solidFill>
            <a:srgbClr val="1A2253"/>
          </a:solidFill>
          <a:ln w="12700">
            <a:solidFill>
              <a:srgbClr val="1A2253"/>
            </a:solidFill>
            <a:prstDash val="solid"/>
          </a:ln>
        </p:spPr>
        <p:txBody>
          <a:bodyPr/>
          <a:lstStyle/>
          <a:p>
            <a:endParaRPr lang="en-US"/>
          </a:p>
        </p:txBody>
      </p:sp>
      <p:sp>
        <p:nvSpPr>
          <p:cNvPr id="3" name="Text 1"/>
          <p:cNvSpPr/>
          <p:nvPr/>
        </p:nvSpPr>
        <p:spPr>
          <a:xfrm>
            <a:off x="502920" y="502920"/>
            <a:ext cx="4572000" cy="365760"/>
          </a:xfrm>
          <a:prstGeom prst="rect">
            <a:avLst/>
          </a:prstGeom>
          <a:noFill/>
          <a:ln/>
        </p:spPr>
        <p:txBody>
          <a:bodyPr wrap="square" lIns="0" tIns="0" rIns="0" bIns="0" rtlCol="0" anchor="ctr"/>
          <a:lstStyle/>
          <a:p>
            <a:r>
              <a:rPr lang="en-US" sz="1600" dirty="0">
                <a:solidFill>
                  <a:srgbClr val="1E2761"/>
                </a:solidFill>
                <a:latin typeface="Calibri" pitchFamily="34" charset="0"/>
                <a:ea typeface="Calibri" pitchFamily="34" charset="-122"/>
                <a:cs typeface="Calibri" pitchFamily="34" charset="-120"/>
              </a:rPr>
              <a:t>CSU Hackathon 2026 Sponsored by USDA &amp; NASA</a:t>
            </a:r>
            <a:endParaRPr lang="en-US" sz="1600" dirty="0"/>
          </a:p>
        </p:txBody>
      </p:sp>
      <p:sp>
        <p:nvSpPr>
          <p:cNvPr id="4" name="Text 2"/>
          <p:cNvSpPr/>
          <p:nvPr/>
        </p:nvSpPr>
        <p:spPr>
          <a:xfrm>
            <a:off x="502920" y="1965960"/>
            <a:ext cx="7955280" cy="914400"/>
          </a:xfrm>
          <a:prstGeom prst="rect">
            <a:avLst/>
          </a:prstGeom>
          <a:noFill/>
          <a:ln/>
        </p:spPr>
        <p:txBody>
          <a:bodyPr wrap="square" lIns="0" tIns="0" rIns="0" bIns="0" rtlCol="0" anchor="ctr"/>
          <a:lstStyle/>
          <a:p>
            <a:pPr marL="0" indent="0">
              <a:buNone/>
            </a:pPr>
            <a:r>
              <a:rPr lang="en-US" sz="6000" b="1" kern="0" spc="200" dirty="0">
                <a:solidFill>
                  <a:srgbClr val="1E2761"/>
                </a:solidFill>
                <a:latin typeface="Arial Black" pitchFamily="34" charset="0"/>
                <a:ea typeface="Arial Black" pitchFamily="34" charset="-122"/>
                <a:cs typeface="Arial Black" pitchFamily="34" charset="-120"/>
              </a:rPr>
              <a:t>THANK YOU</a:t>
            </a:r>
            <a:endParaRPr lang="en-US" sz="6000" dirty="0"/>
          </a:p>
        </p:txBody>
      </p:sp>
      <p:sp>
        <p:nvSpPr>
          <p:cNvPr id="7" name="Text 5"/>
          <p:cNvSpPr/>
          <p:nvPr/>
        </p:nvSpPr>
        <p:spPr>
          <a:xfrm>
            <a:off x="502920" y="4297680"/>
            <a:ext cx="4572000" cy="365760"/>
          </a:xfrm>
          <a:prstGeom prst="rect">
            <a:avLst/>
          </a:prstGeom>
          <a:noFill/>
          <a:ln/>
        </p:spPr>
        <p:txBody>
          <a:bodyPr wrap="square" lIns="0" tIns="0" rIns="0" bIns="0" rtlCol="0" anchor="ctr"/>
          <a:lstStyle/>
          <a:p>
            <a:pPr marL="0" indent="0">
              <a:buNone/>
            </a:pPr>
            <a:r>
              <a:rPr lang="en-US" sz="1600" dirty="0">
                <a:solidFill>
                  <a:srgbClr val="1E2761"/>
                </a:solidFill>
                <a:latin typeface="Calibri" pitchFamily="34" charset="0"/>
                <a:ea typeface="Calibri" pitchFamily="34" charset="-122"/>
                <a:cs typeface="Calibri" pitchFamily="34" charset="-120"/>
              </a:rPr>
              <a:t>Fruit Fly Risk Pathway Analysis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D6B23DD5F26FF4F93226C1B12DF7D96" ma:contentTypeVersion="6" ma:contentTypeDescription="Create a new document." ma:contentTypeScope="" ma:versionID="cd6298170354dcb8457a8124eac7d931">
  <xsd:schema xmlns:xsd="http://www.w3.org/2001/XMLSchema" xmlns:xs="http://www.w3.org/2001/XMLSchema" xmlns:p="http://schemas.microsoft.com/office/2006/metadata/properties" xmlns:ns3="84d7afe7-0733-4b90-aae9-6b7b74f55c6d" targetNamespace="http://schemas.microsoft.com/office/2006/metadata/properties" ma:root="true" ma:fieldsID="da68c1ecc9cdc4951e918962a290433f" ns3:_="">
    <xsd:import namespace="84d7afe7-0733-4b90-aae9-6b7b74f55c6d"/>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d7afe7-0733-4b90-aae9-6b7b74f55c6d"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4d7afe7-0733-4b90-aae9-6b7b74f55c6d" xsi:nil="true"/>
  </documentManagement>
</p:properties>
</file>

<file path=customXml/itemProps1.xml><?xml version="1.0" encoding="utf-8"?>
<ds:datastoreItem xmlns:ds="http://schemas.openxmlformats.org/officeDocument/2006/customXml" ds:itemID="{6AB18B6F-CCB3-4558-9411-C9E4AB3180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4d7afe7-0733-4b90-aae9-6b7b74f55c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74C4A51-65D1-47E5-9888-7AD93798E2CF}">
  <ds:schemaRefs>
    <ds:schemaRef ds:uri="http://schemas.microsoft.com/sharepoint/v3/contenttype/forms"/>
  </ds:schemaRefs>
</ds:datastoreItem>
</file>

<file path=customXml/itemProps3.xml><?xml version="1.0" encoding="utf-8"?>
<ds:datastoreItem xmlns:ds="http://schemas.openxmlformats.org/officeDocument/2006/customXml" ds:itemID="{B0765AAE-97A2-4E4A-B6BF-909F19579414}">
  <ds:schemaRefs>
    <ds:schemaRef ds:uri="http://schemas.microsoft.com/office/2006/documentManagement/types"/>
    <ds:schemaRef ds:uri="http://schemas.microsoft.com/office/infopath/2007/PartnerControls"/>
    <ds:schemaRef ds:uri="http://www.w3.org/XML/1998/namespace"/>
    <ds:schemaRef ds:uri="http://purl.org/dc/terms/"/>
    <ds:schemaRef ds:uri="84d7afe7-0733-4b90-aae9-6b7b74f55c6d"/>
    <ds:schemaRef ds:uri="http://purl.org/dc/elements/1.1/"/>
    <ds:schemaRef ds:uri="http://schemas.openxmlformats.org/package/2006/metadata/core-propertie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62</TotalTime>
  <Words>783</Words>
  <Application>Microsoft Office PowerPoint</Application>
  <PresentationFormat>On-screen Show (16:9)</PresentationFormat>
  <Paragraphs>105</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Fruit Fly Analysis Reflection</dc:title>
  <dc:subject>PptxGenJS Presentation</dc:subject>
  <dc:creator>PptxGenJS</dc:creator>
  <cp:lastModifiedBy>Shawesh,Nuri</cp:lastModifiedBy>
  <cp:revision>3</cp:revision>
  <dcterms:created xsi:type="dcterms:W3CDTF">2026-04-25T22:02:28Z</dcterms:created>
  <dcterms:modified xsi:type="dcterms:W3CDTF">2026-04-25T23:07:44Z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0x0101007D6B23DD5F26FF4F93226C1B12DF7D96</vt:lpwstr>
  </property>
</Properties>
</file>