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D8AB24-040F-40A9-A091-C889FF111F1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76E5EC8-6717-44A1-83A7-F6E6AEC1DC68}">
      <dgm:prSet/>
      <dgm:spPr/>
      <dgm:t>
        <a:bodyPr/>
        <a:lstStyle/>
        <a:p>
          <a:r>
            <a:rPr lang="en-US"/>
            <a:t>Predownloaded data</a:t>
          </a:r>
        </a:p>
      </dgm:t>
    </dgm:pt>
    <dgm:pt modelId="{3C286692-8F52-4380-85BB-84B9B0D46F8C}" type="parTrans" cxnId="{632C0964-31A5-425E-8CC9-364EF1446133}">
      <dgm:prSet/>
      <dgm:spPr/>
      <dgm:t>
        <a:bodyPr/>
        <a:lstStyle/>
        <a:p>
          <a:endParaRPr lang="en-US"/>
        </a:p>
      </dgm:t>
    </dgm:pt>
    <dgm:pt modelId="{5EE6A60C-ECA8-4251-ADC1-BCCB3C0BFB46}" type="sibTrans" cxnId="{632C0964-31A5-425E-8CC9-364EF1446133}">
      <dgm:prSet/>
      <dgm:spPr/>
      <dgm:t>
        <a:bodyPr/>
        <a:lstStyle/>
        <a:p>
          <a:endParaRPr lang="en-US"/>
        </a:p>
      </dgm:t>
    </dgm:pt>
    <dgm:pt modelId="{F02D8438-E78E-4A01-BC16-609353EADFFC}">
      <dgm:prSet/>
      <dgm:spPr/>
      <dgm:t>
        <a:bodyPr/>
        <a:lstStyle/>
        <a:p>
          <a:r>
            <a:rPr lang="en-US"/>
            <a:t>API restrictions</a:t>
          </a:r>
        </a:p>
      </dgm:t>
    </dgm:pt>
    <dgm:pt modelId="{000AA31E-F70D-463E-A08C-B76F63A09D6D}" type="parTrans" cxnId="{F0F67BD4-C1C8-4220-9164-C137182EAFE6}">
      <dgm:prSet/>
      <dgm:spPr/>
      <dgm:t>
        <a:bodyPr/>
        <a:lstStyle/>
        <a:p>
          <a:endParaRPr lang="en-US"/>
        </a:p>
      </dgm:t>
    </dgm:pt>
    <dgm:pt modelId="{9CE2F52C-E716-4D85-BF9E-FBC042663F92}" type="sibTrans" cxnId="{F0F67BD4-C1C8-4220-9164-C137182EAFE6}">
      <dgm:prSet/>
      <dgm:spPr/>
      <dgm:t>
        <a:bodyPr/>
        <a:lstStyle/>
        <a:p>
          <a:endParaRPr lang="en-US"/>
        </a:p>
      </dgm:t>
    </dgm:pt>
    <dgm:pt modelId="{7A9B9C47-50FE-4D85-9FF2-5EA59AFFB6B3}">
      <dgm:prSet/>
      <dgm:spPr/>
      <dgm:t>
        <a:bodyPr/>
        <a:lstStyle/>
        <a:p>
          <a:r>
            <a:rPr lang="en-US"/>
            <a:t>Internet issues</a:t>
          </a:r>
        </a:p>
      </dgm:t>
    </dgm:pt>
    <dgm:pt modelId="{E7A0842D-E0F6-43C2-A6D3-4EDD794BC7EC}" type="parTrans" cxnId="{E751FB92-D1D3-4D99-A878-5BCC5834AC1E}">
      <dgm:prSet/>
      <dgm:spPr/>
      <dgm:t>
        <a:bodyPr/>
        <a:lstStyle/>
        <a:p>
          <a:endParaRPr lang="en-US"/>
        </a:p>
      </dgm:t>
    </dgm:pt>
    <dgm:pt modelId="{84458B7D-DC54-453E-B61D-7E075C1E74CC}" type="sibTrans" cxnId="{E751FB92-D1D3-4D99-A878-5BCC5834AC1E}">
      <dgm:prSet/>
      <dgm:spPr/>
      <dgm:t>
        <a:bodyPr/>
        <a:lstStyle/>
        <a:p>
          <a:endParaRPr lang="en-US"/>
        </a:p>
      </dgm:t>
    </dgm:pt>
    <dgm:pt modelId="{000B7F03-D48B-40BA-BF4C-AA068E4C076F}">
      <dgm:prSet/>
      <dgm:spPr/>
      <dgm:t>
        <a:bodyPr/>
        <a:lstStyle/>
        <a:p>
          <a:r>
            <a:rPr lang="en-US"/>
            <a:t>Covert into CSV</a:t>
          </a:r>
        </a:p>
      </dgm:t>
    </dgm:pt>
    <dgm:pt modelId="{5254B712-177B-4F09-A378-C39C4E192B19}" type="parTrans" cxnId="{DE61389E-65F3-4519-8178-7E7ACB493CF8}">
      <dgm:prSet/>
      <dgm:spPr/>
      <dgm:t>
        <a:bodyPr/>
        <a:lstStyle/>
        <a:p>
          <a:endParaRPr lang="en-US"/>
        </a:p>
      </dgm:t>
    </dgm:pt>
    <dgm:pt modelId="{F6A1562E-AF2B-4FF1-BB11-B7CC84E6BF16}" type="sibTrans" cxnId="{DE61389E-65F3-4519-8178-7E7ACB493CF8}">
      <dgm:prSet/>
      <dgm:spPr/>
      <dgm:t>
        <a:bodyPr/>
        <a:lstStyle/>
        <a:p>
          <a:endParaRPr lang="en-US"/>
        </a:p>
      </dgm:t>
    </dgm:pt>
    <dgm:pt modelId="{D5C699F1-FC23-4D5A-B43D-73591E64C2FD}">
      <dgm:prSet/>
      <dgm:spPr/>
      <dgm:t>
        <a:bodyPr/>
        <a:lstStyle/>
        <a:p>
          <a:r>
            <a:rPr lang="en-US"/>
            <a:t>GeoPandas issues</a:t>
          </a:r>
        </a:p>
      </dgm:t>
    </dgm:pt>
    <dgm:pt modelId="{93407A6A-2B62-4BC0-BE3D-96AA79A55126}" type="parTrans" cxnId="{F6FC6A8F-3ED8-4181-84BD-6DC942F1544D}">
      <dgm:prSet/>
      <dgm:spPr/>
      <dgm:t>
        <a:bodyPr/>
        <a:lstStyle/>
        <a:p>
          <a:endParaRPr lang="en-US"/>
        </a:p>
      </dgm:t>
    </dgm:pt>
    <dgm:pt modelId="{3000BA03-2E09-4B2F-8FF4-07433CEAF8FB}" type="sibTrans" cxnId="{F6FC6A8F-3ED8-4181-84BD-6DC942F1544D}">
      <dgm:prSet/>
      <dgm:spPr/>
      <dgm:t>
        <a:bodyPr/>
        <a:lstStyle/>
        <a:p>
          <a:endParaRPr lang="en-US"/>
        </a:p>
      </dgm:t>
    </dgm:pt>
    <dgm:pt modelId="{41C9AC05-EBC5-425A-A8EB-15B2844E5487}">
      <dgm:prSet/>
      <dgm:spPr/>
      <dgm:t>
        <a:bodyPr/>
        <a:lstStyle/>
        <a:p>
          <a:r>
            <a:rPr lang="en-US"/>
            <a:t>Better fit for SQLite conversion</a:t>
          </a:r>
        </a:p>
      </dgm:t>
    </dgm:pt>
    <dgm:pt modelId="{7229D4EF-3E66-488D-870A-F1FA4922364F}" type="parTrans" cxnId="{C338BCB4-E0BA-4B4B-8475-10B509CF081F}">
      <dgm:prSet/>
      <dgm:spPr/>
      <dgm:t>
        <a:bodyPr/>
        <a:lstStyle/>
        <a:p>
          <a:endParaRPr lang="en-US"/>
        </a:p>
      </dgm:t>
    </dgm:pt>
    <dgm:pt modelId="{0CF5C3A1-3561-4385-A554-D5883437DF24}" type="sibTrans" cxnId="{C338BCB4-E0BA-4B4B-8475-10B509CF081F}">
      <dgm:prSet/>
      <dgm:spPr/>
      <dgm:t>
        <a:bodyPr/>
        <a:lstStyle/>
        <a:p>
          <a:endParaRPr lang="en-US"/>
        </a:p>
      </dgm:t>
    </dgm:pt>
    <dgm:pt modelId="{34DB7FE9-E073-4BD0-8B14-5E3B78AB69A9}" type="pres">
      <dgm:prSet presAssocID="{8DD8AB24-040F-40A9-A091-C889FF111F10}" presName="vert0" presStyleCnt="0">
        <dgm:presLayoutVars>
          <dgm:dir/>
          <dgm:animOne val="branch"/>
          <dgm:animLvl val="lvl"/>
        </dgm:presLayoutVars>
      </dgm:prSet>
      <dgm:spPr/>
    </dgm:pt>
    <dgm:pt modelId="{4EA050C7-2A3F-4937-8BE2-1815A186A95A}" type="pres">
      <dgm:prSet presAssocID="{776E5EC8-6717-44A1-83A7-F6E6AEC1DC68}" presName="thickLine" presStyleLbl="alignNode1" presStyleIdx="0" presStyleCnt="6"/>
      <dgm:spPr/>
    </dgm:pt>
    <dgm:pt modelId="{8E2FB357-B6FA-4BB7-B7CB-C2C2A473E767}" type="pres">
      <dgm:prSet presAssocID="{776E5EC8-6717-44A1-83A7-F6E6AEC1DC68}" presName="horz1" presStyleCnt="0"/>
      <dgm:spPr/>
    </dgm:pt>
    <dgm:pt modelId="{EBBCAF55-EE89-44AF-B215-7512B8A2010F}" type="pres">
      <dgm:prSet presAssocID="{776E5EC8-6717-44A1-83A7-F6E6AEC1DC68}" presName="tx1" presStyleLbl="revTx" presStyleIdx="0" presStyleCnt="6"/>
      <dgm:spPr/>
    </dgm:pt>
    <dgm:pt modelId="{F8084ED4-158C-4911-B1D5-C1F287B5F951}" type="pres">
      <dgm:prSet presAssocID="{776E5EC8-6717-44A1-83A7-F6E6AEC1DC68}" presName="vert1" presStyleCnt="0"/>
      <dgm:spPr/>
    </dgm:pt>
    <dgm:pt modelId="{91C82543-FA68-432F-AB9C-C8235A9A9CA4}" type="pres">
      <dgm:prSet presAssocID="{F02D8438-E78E-4A01-BC16-609353EADFFC}" presName="thickLine" presStyleLbl="alignNode1" presStyleIdx="1" presStyleCnt="6"/>
      <dgm:spPr/>
    </dgm:pt>
    <dgm:pt modelId="{9ADD70CB-A201-4D6B-BC6C-784694862847}" type="pres">
      <dgm:prSet presAssocID="{F02D8438-E78E-4A01-BC16-609353EADFFC}" presName="horz1" presStyleCnt="0"/>
      <dgm:spPr/>
    </dgm:pt>
    <dgm:pt modelId="{70022FFB-5B26-4874-9B14-4ACC9A6AC7AF}" type="pres">
      <dgm:prSet presAssocID="{F02D8438-E78E-4A01-BC16-609353EADFFC}" presName="tx1" presStyleLbl="revTx" presStyleIdx="1" presStyleCnt="6"/>
      <dgm:spPr/>
    </dgm:pt>
    <dgm:pt modelId="{3B20EA3A-3333-48DC-92EA-15547CE7DCA0}" type="pres">
      <dgm:prSet presAssocID="{F02D8438-E78E-4A01-BC16-609353EADFFC}" presName="vert1" presStyleCnt="0"/>
      <dgm:spPr/>
    </dgm:pt>
    <dgm:pt modelId="{4486BD74-FA51-4238-9097-13EFFB937155}" type="pres">
      <dgm:prSet presAssocID="{7A9B9C47-50FE-4D85-9FF2-5EA59AFFB6B3}" presName="thickLine" presStyleLbl="alignNode1" presStyleIdx="2" presStyleCnt="6"/>
      <dgm:spPr/>
    </dgm:pt>
    <dgm:pt modelId="{A5D0B5EB-2D83-4719-B843-DC35A69FFEBE}" type="pres">
      <dgm:prSet presAssocID="{7A9B9C47-50FE-4D85-9FF2-5EA59AFFB6B3}" presName="horz1" presStyleCnt="0"/>
      <dgm:spPr/>
    </dgm:pt>
    <dgm:pt modelId="{C73CFE97-FC8D-4525-8D35-EE5A1CB5583C}" type="pres">
      <dgm:prSet presAssocID="{7A9B9C47-50FE-4D85-9FF2-5EA59AFFB6B3}" presName="tx1" presStyleLbl="revTx" presStyleIdx="2" presStyleCnt="6"/>
      <dgm:spPr/>
    </dgm:pt>
    <dgm:pt modelId="{C00834CB-94D6-4171-857B-E97E0ABB6CF0}" type="pres">
      <dgm:prSet presAssocID="{7A9B9C47-50FE-4D85-9FF2-5EA59AFFB6B3}" presName="vert1" presStyleCnt="0"/>
      <dgm:spPr/>
    </dgm:pt>
    <dgm:pt modelId="{89228814-C5FB-436B-9E19-C34F31E01A44}" type="pres">
      <dgm:prSet presAssocID="{000B7F03-D48B-40BA-BF4C-AA068E4C076F}" presName="thickLine" presStyleLbl="alignNode1" presStyleIdx="3" presStyleCnt="6"/>
      <dgm:spPr/>
    </dgm:pt>
    <dgm:pt modelId="{63D7E808-1036-4AC6-8B08-8BD18D32E4FF}" type="pres">
      <dgm:prSet presAssocID="{000B7F03-D48B-40BA-BF4C-AA068E4C076F}" presName="horz1" presStyleCnt="0"/>
      <dgm:spPr/>
    </dgm:pt>
    <dgm:pt modelId="{F366FA91-16A9-481E-BA6A-2CE0E1E3D222}" type="pres">
      <dgm:prSet presAssocID="{000B7F03-D48B-40BA-BF4C-AA068E4C076F}" presName="tx1" presStyleLbl="revTx" presStyleIdx="3" presStyleCnt="6"/>
      <dgm:spPr/>
    </dgm:pt>
    <dgm:pt modelId="{2EB3D780-0383-4255-8886-EBB19BE513D9}" type="pres">
      <dgm:prSet presAssocID="{000B7F03-D48B-40BA-BF4C-AA068E4C076F}" presName="vert1" presStyleCnt="0"/>
      <dgm:spPr/>
    </dgm:pt>
    <dgm:pt modelId="{FB105C61-ADFA-4311-860D-28922C5A1175}" type="pres">
      <dgm:prSet presAssocID="{D5C699F1-FC23-4D5A-B43D-73591E64C2FD}" presName="thickLine" presStyleLbl="alignNode1" presStyleIdx="4" presStyleCnt="6"/>
      <dgm:spPr/>
    </dgm:pt>
    <dgm:pt modelId="{3083F0E1-5B8D-4DB4-9054-B206E87C58FA}" type="pres">
      <dgm:prSet presAssocID="{D5C699F1-FC23-4D5A-B43D-73591E64C2FD}" presName="horz1" presStyleCnt="0"/>
      <dgm:spPr/>
    </dgm:pt>
    <dgm:pt modelId="{7C673EA5-E34C-4E3E-85F6-91A1798AFF7F}" type="pres">
      <dgm:prSet presAssocID="{D5C699F1-FC23-4D5A-B43D-73591E64C2FD}" presName="tx1" presStyleLbl="revTx" presStyleIdx="4" presStyleCnt="6"/>
      <dgm:spPr/>
    </dgm:pt>
    <dgm:pt modelId="{55BC06A5-0473-4F25-B13B-71D207FD4254}" type="pres">
      <dgm:prSet presAssocID="{D5C699F1-FC23-4D5A-B43D-73591E64C2FD}" presName="vert1" presStyleCnt="0"/>
      <dgm:spPr/>
    </dgm:pt>
    <dgm:pt modelId="{0D62BB47-36E6-4A44-813B-DE09FD7F4A58}" type="pres">
      <dgm:prSet presAssocID="{41C9AC05-EBC5-425A-A8EB-15B2844E5487}" presName="thickLine" presStyleLbl="alignNode1" presStyleIdx="5" presStyleCnt="6"/>
      <dgm:spPr/>
    </dgm:pt>
    <dgm:pt modelId="{BAE650EB-F341-4B12-9F63-F55AEEB8A6FD}" type="pres">
      <dgm:prSet presAssocID="{41C9AC05-EBC5-425A-A8EB-15B2844E5487}" presName="horz1" presStyleCnt="0"/>
      <dgm:spPr/>
    </dgm:pt>
    <dgm:pt modelId="{2E15EEE8-3820-471C-AAD7-140BF712D213}" type="pres">
      <dgm:prSet presAssocID="{41C9AC05-EBC5-425A-A8EB-15B2844E5487}" presName="tx1" presStyleLbl="revTx" presStyleIdx="5" presStyleCnt="6"/>
      <dgm:spPr/>
    </dgm:pt>
    <dgm:pt modelId="{002E8644-5B05-4D1E-AF96-50A115F7FEF0}" type="pres">
      <dgm:prSet presAssocID="{41C9AC05-EBC5-425A-A8EB-15B2844E5487}" presName="vert1" presStyleCnt="0"/>
      <dgm:spPr/>
    </dgm:pt>
  </dgm:ptLst>
  <dgm:cxnLst>
    <dgm:cxn modelId="{0A2CE822-A182-4173-9235-A9D6162A60D2}" type="presOf" srcId="{7A9B9C47-50FE-4D85-9FF2-5EA59AFFB6B3}" destId="{C73CFE97-FC8D-4525-8D35-EE5A1CB5583C}" srcOrd="0" destOrd="0" presId="urn:microsoft.com/office/officeart/2008/layout/LinedList"/>
    <dgm:cxn modelId="{389A9B35-C529-40B6-8128-BB62FDA33507}" type="presOf" srcId="{8DD8AB24-040F-40A9-A091-C889FF111F10}" destId="{34DB7FE9-E073-4BD0-8B14-5E3B78AB69A9}" srcOrd="0" destOrd="0" presId="urn:microsoft.com/office/officeart/2008/layout/LinedList"/>
    <dgm:cxn modelId="{99735E3F-5CB8-498F-9359-3B7C02A8E0A8}" type="presOf" srcId="{41C9AC05-EBC5-425A-A8EB-15B2844E5487}" destId="{2E15EEE8-3820-471C-AAD7-140BF712D213}" srcOrd="0" destOrd="0" presId="urn:microsoft.com/office/officeart/2008/layout/LinedList"/>
    <dgm:cxn modelId="{B104CB5F-E6BB-4204-9658-2A67E0F79B6D}" type="presOf" srcId="{D5C699F1-FC23-4D5A-B43D-73591E64C2FD}" destId="{7C673EA5-E34C-4E3E-85F6-91A1798AFF7F}" srcOrd="0" destOrd="0" presId="urn:microsoft.com/office/officeart/2008/layout/LinedList"/>
    <dgm:cxn modelId="{632C0964-31A5-425E-8CC9-364EF1446133}" srcId="{8DD8AB24-040F-40A9-A091-C889FF111F10}" destId="{776E5EC8-6717-44A1-83A7-F6E6AEC1DC68}" srcOrd="0" destOrd="0" parTransId="{3C286692-8F52-4380-85BB-84B9B0D46F8C}" sibTransId="{5EE6A60C-ECA8-4251-ADC1-BCCB3C0BFB46}"/>
    <dgm:cxn modelId="{F6FC6A8F-3ED8-4181-84BD-6DC942F1544D}" srcId="{8DD8AB24-040F-40A9-A091-C889FF111F10}" destId="{D5C699F1-FC23-4D5A-B43D-73591E64C2FD}" srcOrd="4" destOrd="0" parTransId="{93407A6A-2B62-4BC0-BE3D-96AA79A55126}" sibTransId="{3000BA03-2E09-4B2F-8FF4-07433CEAF8FB}"/>
    <dgm:cxn modelId="{E751FB92-D1D3-4D99-A878-5BCC5834AC1E}" srcId="{8DD8AB24-040F-40A9-A091-C889FF111F10}" destId="{7A9B9C47-50FE-4D85-9FF2-5EA59AFFB6B3}" srcOrd="2" destOrd="0" parTransId="{E7A0842D-E0F6-43C2-A6D3-4EDD794BC7EC}" sibTransId="{84458B7D-DC54-453E-B61D-7E075C1E74CC}"/>
    <dgm:cxn modelId="{3512D89B-44DC-445B-9798-7CA9C69EED7C}" type="presOf" srcId="{776E5EC8-6717-44A1-83A7-F6E6AEC1DC68}" destId="{EBBCAF55-EE89-44AF-B215-7512B8A2010F}" srcOrd="0" destOrd="0" presId="urn:microsoft.com/office/officeart/2008/layout/LinedList"/>
    <dgm:cxn modelId="{DE61389E-65F3-4519-8178-7E7ACB493CF8}" srcId="{8DD8AB24-040F-40A9-A091-C889FF111F10}" destId="{000B7F03-D48B-40BA-BF4C-AA068E4C076F}" srcOrd="3" destOrd="0" parTransId="{5254B712-177B-4F09-A378-C39C4E192B19}" sibTransId="{F6A1562E-AF2B-4FF1-BB11-B7CC84E6BF16}"/>
    <dgm:cxn modelId="{C47126AD-3253-4138-8B52-110742B16674}" type="presOf" srcId="{F02D8438-E78E-4A01-BC16-609353EADFFC}" destId="{70022FFB-5B26-4874-9B14-4ACC9A6AC7AF}" srcOrd="0" destOrd="0" presId="urn:microsoft.com/office/officeart/2008/layout/LinedList"/>
    <dgm:cxn modelId="{C338BCB4-E0BA-4B4B-8475-10B509CF081F}" srcId="{8DD8AB24-040F-40A9-A091-C889FF111F10}" destId="{41C9AC05-EBC5-425A-A8EB-15B2844E5487}" srcOrd="5" destOrd="0" parTransId="{7229D4EF-3E66-488D-870A-F1FA4922364F}" sibTransId="{0CF5C3A1-3561-4385-A554-D5883437DF24}"/>
    <dgm:cxn modelId="{819971D3-D721-484D-9FF4-CD680544D1F6}" type="presOf" srcId="{000B7F03-D48B-40BA-BF4C-AA068E4C076F}" destId="{F366FA91-16A9-481E-BA6A-2CE0E1E3D222}" srcOrd="0" destOrd="0" presId="urn:microsoft.com/office/officeart/2008/layout/LinedList"/>
    <dgm:cxn modelId="{F0F67BD4-C1C8-4220-9164-C137182EAFE6}" srcId="{8DD8AB24-040F-40A9-A091-C889FF111F10}" destId="{F02D8438-E78E-4A01-BC16-609353EADFFC}" srcOrd="1" destOrd="0" parTransId="{000AA31E-F70D-463E-A08C-B76F63A09D6D}" sibTransId="{9CE2F52C-E716-4D85-BF9E-FBC042663F92}"/>
    <dgm:cxn modelId="{573570C5-3CCA-4755-9D7F-9BCD7C7E038D}" type="presParOf" srcId="{34DB7FE9-E073-4BD0-8B14-5E3B78AB69A9}" destId="{4EA050C7-2A3F-4937-8BE2-1815A186A95A}" srcOrd="0" destOrd="0" presId="urn:microsoft.com/office/officeart/2008/layout/LinedList"/>
    <dgm:cxn modelId="{1231DE67-3DAB-4C84-883D-0D3D76AA0BD1}" type="presParOf" srcId="{34DB7FE9-E073-4BD0-8B14-5E3B78AB69A9}" destId="{8E2FB357-B6FA-4BB7-B7CB-C2C2A473E767}" srcOrd="1" destOrd="0" presId="urn:microsoft.com/office/officeart/2008/layout/LinedList"/>
    <dgm:cxn modelId="{7910AD2B-E4A4-4A6F-AA7A-44E9E87F7C4B}" type="presParOf" srcId="{8E2FB357-B6FA-4BB7-B7CB-C2C2A473E767}" destId="{EBBCAF55-EE89-44AF-B215-7512B8A2010F}" srcOrd="0" destOrd="0" presId="urn:microsoft.com/office/officeart/2008/layout/LinedList"/>
    <dgm:cxn modelId="{1EACAD77-4BB0-4621-8C27-061B577534DB}" type="presParOf" srcId="{8E2FB357-B6FA-4BB7-B7CB-C2C2A473E767}" destId="{F8084ED4-158C-4911-B1D5-C1F287B5F951}" srcOrd="1" destOrd="0" presId="urn:microsoft.com/office/officeart/2008/layout/LinedList"/>
    <dgm:cxn modelId="{8B87054C-6EA4-472F-B4DC-0DEB545C928C}" type="presParOf" srcId="{34DB7FE9-E073-4BD0-8B14-5E3B78AB69A9}" destId="{91C82543-FA68-432F-AB9C-C8235A9A9CA4}" srcOrd="2" destOrd="0" presId="urn:microsoft.com/office/officeart/2008/layout/LinedList"/>
    <dgm:cxn modelId="{12E50603-60BA-46F6-9806-882C9DC1E97E}" type="presParOf" srcId="{34DB7FE9-E073-4BD0-8B14-5E3B78AB69A9}" destId="{9ADD70CB-A201-4D6B-BC6C-784694862847}" srcOrd="3" destOrd="0" presId="urn:microsoft.com/office/officeart/2008/layout/LinedList"/>
    <dgm:cxn modelId="{AA2D2E27-C95E-4C05-A97A-C115FF59C504}" type="presParOf" srcId="{9ADD70CB-A201-4D6B-BC6C-784694862847}" destId="{70022FFB-5B26-4874-9B14-4ACC9A6AC7AF}" srcOrd="0" destOrd="0" presId="urn:microsoft.com/office/officeart/2008/layout/LinedList"/>
    <dgm:cxn modelId="{50B6EC26-08A3-404D-A4C1-85851B028E05}" type="presParOf" srcId="{9ADD70CB-A201-4D6B-BC6C-784694862847}" destId="{3B20EA3A-3333-48DC-92EA-15547CE7DCA0}" srcOrd="1" destOrd="0" presId="urn:microsoft.com/office/officeart/2008/layout/LinedList"/>
    <dgm:cxn modelId="{DD26C62E-713A-47F2-90A7-6682AE014D91}" type="presParOf" srcId="{34DB7FE9-E073-4BD0-8B14-5E3B78AB69A9}" destId="{4486BD74-FA51-4238-9097-13EFFB937155}" srcOrd="4" destOrd="0" presId="urn:microsoft.com/office/officeart/2008/layout/LinedList"/>
    <dgm:cxn modelId="{60885C3D-42A1-4620-96F9-270D5C7DA44F}" type="presParOf" srcId="{34DB7FE9-E073-4BD0-8B14-5E3B78AB69A9}" destId="{A5D0B5EB-2D83-4719-B843-DC35A69FFEBE}" srcOrd="5" destOrd="0" presId="urn:microsoft.com/office/officeart/2008/layout/LinedList"/>
    <dgm:cxn modelId="{5BF4705A-EB05-4DDD-95CB-A26F03CCD956}" type="presParOf" srcId="{A5D0B5EB-2D83-4719-B843-DC35A69FFEBE}" destId="{C73CFE97-FC8D-4525-8D35-EE5A1CB5583C}" srcOrd="0" destOrd="0" presId="urn:microsoft.com/office/officeart/2008/layout/LinedList"/>
    <dgm:cxn modelId="{6280809D-6F6F-4340-8692-CDF981C2B722}" type="presParOf" srcId="{A5D0B5EB-2D83-4719-B843-DC35A69FFEBE}" destId="{C00834CB-94D6-4171-857B-E97E0ABB6CF0}" srcOrd="1" destOrd="0" presId="urn:microsoft.com/office/officeart/2008/layout/LinedList"/>
    <dgm:cxn modelId="{9DEC9E72-50BF-48E8-A203-E234670A067A}" type="presParOf" srcId="{34DB7FE9-E073-4BD0-8B14-5E3B78AB69A9}" destId="{89228814-C5FB-436B-9E19-C34F31E01A44}" srcOrd="6" destOrd="0" presId="urn:microsoft.com/office/officeart/2008/layout/LinedList"/>
    <dgm:cxn modelId="{E47BDA5A-430A-4C1C-A49D-D0F8A90F05A6}" type="presParOf" srcId="{34DB7FE9-E073-4BD0-8B14-5E3B78AB69A9}" destId="{63D7E808-1036-4AC6-8B08-8BD18D32E4FF}" srcOrd="7" destOrd="0" presId="urn:microsoft.com/office/officeart/2008/layout/LinedList"/>
    <dgm:cxn modelId="{5875414F-F457-4F5F-B712-C839192155C6}" type="presParOf" srcId="{63D7E808-1036-4AC6-8B08-8BD18D32E4FF}" destId="{F366FA91-16A9-481E-BA6A-2CE0E1E3D222}" srcOrd="0" destOrd="0" presId="urn:microsoft.com/office/officeart/2008/layout/LinedList"/>
    <dgm:cxn modelId="{DEAB6307-EC33-4EE0-91ED-DB2658BF0525}" type="presParOf" srcId="{63D7E808-1036-4AC6-8B08-8BD18D32E4FF}" destId="{2EB3D780-0383-4255-8886-EBB19BE513D9}" srcOrd="1" destOrd="0" presId="urn:microsoft.com/office/officeart/2008/layout/LinedList"/>
    <dgm:cxn modelId="{915056DC-BD5A-4E81-AD19-357D167F03D7}" type="presParOf" srcId="{34DB7FE9-E073-4BD0-8B14-5E3B78AB69A9}" destId="{FB105C61-ADFA-4311-860D-28922C5A1175}" srcOrd="8" destOrd="0" presId="urn:microsoft.com/office/officeart/2008/layout/LinedList"/>
    <dgm:cxn modelId="{FA324704-D9D0-4365-9757-679FD15196CB}" type="presParOf" srcId="{34DB7FE9-E073-4BD0-8B14-5E3B78AB69A9}" destId="{3083F0E1-5B8D-4DB4-9054-B206E87C58FA}" srcOrd="9" destOrd="0" presId="urn:microsoft.com/office/officeart/2008/layout/LinedList"/>
    <dgm:cxn modelId="{6760B128-6448-41AF-BA92-8AD5BAE9E8F9}" type="presParOf" srcId="{3083F0E1-5B8D-4DB4-9054-B206E87C58FA}" destId="{7C673EA5-E34C-4E3E-85F6-91A1798AFF7F}" srcOrd="0" destOrd="0" presId="urn:microsoft.com/office/officeart/2008/layout/LinedList"/>
    <dgm:cxn modelId="{F3DE2E72-3DC9-444D-9232-A97BFE4661C4}" type="presParOf" srcId="{3083F0E1-5B8D-4DB4-9054-B206E87C58FA}" destId="{55BC06A5-0473-4F25-B13B-71D207FD4254}" srcOrd="1" destOrd="0" presId="urn:microsoft.com/office/officeart/2008/layout/LinedList"/>
    <dgm:cxn modelId="{BAA5112D-39A5-42C9-9770-FB990076E346}" type="presParOf" srcId="{34DB7FE9-E073-4BD0-8B14-5E3B78AB69A9}" destId="{0D62BB47-36E6-4A44-813B-DE09FD7F4A58}" srcOrd="10" destOrd="0" presId="urn:microsoft.com/office/officeart/2008/layout/LinedList"/>
    <dgm:cxn modelId="{D233D8A2-999E-41F5-BC7A-3D4D11F6C9B7}" type="presParOf" srcId="{34DB7FE9-E073-4BD0-8B14-5E3B78AB69A9}" destId="{BAE650EB-F341-4B12-9F63-F55AEEB8A6FD}" srcOrd="11" destOrd="0" presId="urn:microsoft.com/office/officeart/2008/layout/LinedList"/>
    <dgm:cxn modelId="{A8CD85AA-1B1D-4AFF-986C-307D5AD8A193}" type="presParOf" srcId="{BAE650EB-F341-4B12-9F63-F55AEEB8A6FD}" destId="{2E15EEE8-3820-471C-AAD7-140BF712D213}" srcOrd="0" destOrd="0" presId="urn:microsoft.com/office/officeart/2008/layout/LinedList"/>
    <dgm:cxn modelId="{45161A84-0A08-4A10-B4D1-F127DA67A30D}" type="presParOf" srcId="{BAE650EB-F341-4B12-9F63-F55AEEB8A6FD}" destId="{002E8644-5B05-4D1E-AF96-50A115F7FEF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050C7-2A3F-4937-8BE2-1815A186A95A}">
      <dsp:nvSpPr>
        <dsp:cNvPr id="0" name=""/>
        <dsp:cNvSpPr/>
      </dsp:nvSpPr>
      <dsp:spPr>
        <a:xfrm>
          <a:off x="0" y="1826"/>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BCAF55-EE89-44AF-B215-7512B8A2010F}">
      <dsp:nvSpPr>
        <dsp:cNvPr id="0" name=""/>
        <dsp:cNvSpPr/>
      </dsp:nvSpPr>
      <dsp:spPr>
        <a:xfrm>
          <a:off x="0" y="1826"/>
          <a:ext cx="10691265" cy="62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Predownloaded data</a:t>
          </a:r>
        </a:p>
      </dsp:txBody>
      <dsp:txXfrm>
        <a:off x="0" y="1826"/>
        <a:ext cx="10691265" cy="622707"/>
      </dsp:txXfrm>
    </dsp:sp>
    <dsp:sp modelId="{91C82543-FA68-432F-AB9C-C8235A9A9CA4}">
      <dsp:nvSpPr>
        <dsp:cNvPr id="0" name=""/>
        <dsp:cNvSpPr/>
      </dsp:nvSpPr>
      <dsp:spPr>
        <a:xfrm>
          <a:off x="0" y="624533"/>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022FFB-5B26-4874-9B14-4ACC9A6AC7AF}">
      <dsp:nvSpPr>
        <dsp:cNvPr id="0" name=""/>
        <dsp:cNvSpPr/>
      </dsp:nvSpPr>
      <dsp:spPr>
        <a:xfrm>
          <a:off x="0" y="624533"/>
          <a:ext cx="10691265" cy="62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API restrictions</a:t>
          </a:r>
        </a:p>
      </dsp:txBody>
      <dsp:txXfrm>
        <a:off x="0" y="624533"/>
        <a:ext cx="10691265" cy="622707"/>
      </dsp:txXfrm>
    </dsp:sp>
    <dsp:sp modelId="{4486BD74-FA51-4238-9097-13EFFB937155}">
      <dsp:nvSpPr>
        <dsp:cNvPr id="0" name=""/>
        <dsp:cNvSpPr/>
      </dsp:nvSpPr>
      <dsp:spPr>
        <a:xfrm>
          <a:off x="0" y="1247240"/>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3CFE97-FC8D-4525-8D35-EE5A1CB5583C}">
      <dsp:nvSpPr>
        <dsp:cNvPr id="0" name=""/>
        <dsp:cNvSpPr/>
      </dsp:nvSpPr>
      <dsp:spPr>
        <a:xfrm>
          <a:off x="0" y="1247240"/>
          <a:ext cx="10691265" cy="62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Internet issues</a:t>
          </a:r>
        </a:p>
      </dsp:txBody>
      <dsp:txXfrm>
        <a:off x="0" y="1247240"/>
        <a:ext cx="10691265" cy="622707"/>
      </dsp:txXfrm>
    </dsp:sp>
    <dsp:sp modelId="{89228814-C5FB-436B-9E19-C34F31E01A44}">
      <dsp:nvSpPr>
        <dsp:cNvPr id="0" name=""/>
        <dsp:cNvSpPr/>
      </dsp:nvSpPr>
      <dsp:spPr>
        <a:xfrm>
          <a:off x="0" y="1869947"/>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66FA91-16A9-481E-BA6A-2CE0E1E3D222}">
      <dsp:nvSpPr>
        <dsp:cNvPr id="0" name=""/>
        <dsp:cNvSpPr/>
      </dsp:nvSpPr>
      <dsp:spPr>
        <a:xfrm>
          <a:off x="0" y="1869947"/>
          <a:ext cx="10691265" cy="62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Covert into CSV</a:t>
          </a:r>
        </a:p>
      </dsp:txBody>
      <dsp:txXfrm>
        <a:off x="0" y="1869947"/>
        <a:ext cx="10691265" cy="622707"/>
      </dsp:txXfrm>
    </dsp:sp>
    <dsp:sp modelId="{FB105C61-ADFA-4311-860D-28922C5A1175}">
      <dsp:nvSpPr>
        <dsp:cNvPr id="0" name=""/>
        <dsp:cNvSpPr/>
      </dsp:nvSpPr>
      <dsp:spPr>
        <a:xfrm>
          <a:off x="0" y="2492655"/>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673EA5-E34C-4E3E-85F6-91A1798AFF7F}">
      <dsp:nvSpPr>
        <dsp:cNvPr id="0" name=""/>
        <dsp:cNvSpPr/>
      </dsp:nvSpPr>
      <dsp:spPr>
        <a:xfrm>
          <a:off x="0" y="2492655"/>
          <a:ext cx="10691265" cy="62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GeoPandas issues</a:t>
          </a:r>
        </a:p>
      </dsp:txBody>
      <dsp:txXfrm>
        <a:off x="0" y="2492655"/>
        <a:ext cx="10691265" cy="622707"/>
      </dsp:txXfrm>
    </dsp:sp>
    <dsp:sp modelId="{0D62BB47-36E6-4A44-813B-DE09FD7F4A58}">
      <dsp:nvSpPr>
        <dsp:cNvPr id="0" name=""/>
        <dsp:cNvSpPr/>
      </dsp:nvSpPr>
      <dsp:spPr>
        <a:xfrm>
          <a:off x="0" y="3115362"/>
          <a:ext cx="106912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15EEE8-3820-471C-AAD7-140BF712D213}">
      <dsp:nvSpPr>
        <dsp:cNvPr id="0" name=""/>
        <dsp:cNvSpPr/>
      </dsp:nvSpPr>
      <dsp:spPr>
        <a:xfrm>
          <a:off x="0" y="3115362"/>
          <a:ext cx="10691265" cy="62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Better fit for SQLite conversion</a:t>
          </a:r>
        </a:p>
      </dsp:txBody>
      <dsp:txXfrm>
        <a:off x="0" y="3115362"/>
        <a:ext cx="10691265" cy="62270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4/25/2026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25173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4/25/2026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25936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4/25/2026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91967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4/25/2026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6247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4/25/2026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7950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4/25/2026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84467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4/25/2026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22919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4/25/2026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728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4/25/2026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28187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4/25/2026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36796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4/25/2026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34069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4/25/2026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15185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9" name="Straight Connector 18">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B71629F-61EE-8DE6-8596-395F5D5F5424}"/>
              </a:ext>
            </a:extLst>
          </p:cNvPr>
          <p:cNvPicPr>
            <a:picLocks noChangeAspect="1"/>
          </p:cNvPicPr>
          <p:nvPr/>
        </p:nvPicPr>
        <p:blipFill>
          <a:blip r:embed="rId2">
            <a:extLst>
              <a:ext uri="{28A0092B-C50C-407E-A947-70E740481C1C}">
                <a14:useLocalDpi xmlns:a14="http://schemas.microsoft.com/office/drawing/2010/main" val="0"/>
              </a:ext>
            </a:extLst>
          </a:blip>
          <a:srcRect l="9091" t="24130" b="7688"/>
          <a:stretch>
            <a:fillRect/>
          </a:stretch>
        </p:blipFill>
        <p:spPr>
          <a:xfrm>
            <a:off x="20" y="10"/>
            <a:ext cx="12191979" cy="6857990"/>
          </a:xfrm>
          <a:prstGeom prst="rect">
            <a:avLst/>
          </a:prstGeom>
        </p:spPr>
      </p:pic>
      <p:sp>
        <p:nvSpPr>
          <p:cNvPr id="21" name="Rectangle 20">
            <a:extLst>
              <a:ext uri="{FF2B5EF4-FFF2-40B4-BE49-F238E27FC236}">
                <a16:creationId xmlns:a16="http://schemas.microsoft.com/office/drawing/2014/main" id="{EFBAAD93-7DE6-47D1-3609-446AE138A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0C10651-8BF8-28FE-30B4-F08F50775546}"/>
              </a:ext>
            </a:extLst>
          </p:cNvPr>
          <p:cNvSpPr>
            <a:spLocks noGrp="1"/>
          </p:cNvSpPr>
          <p:nvPr>
            <p:ph type="ctrTitle"/>
          </p:nvPr>
        </p:nvSpPr>
        <p:spPr>
          <a:xfrm>
            <a:off x="7145736" y="908651"/>
            <a:ext cx="4754880" cy="4171779"/>
          </a:xfrm>
        </p:spPr>
        <p:txBody>
          <a:bodyPr anchor="t">
            <a:normAutofit/>
          </a:bodyPr>
          <a:lstStyle/>
          <a:p>
            <a:r>
              <a:rPr lang="en-US" sz="6000"/>
              <a:t>FlySpy</a:t>
            </a:r>
          </a:p>
        </p:txBody>
      </p:sp>
      <p:sp>
        <p:nvSpPr>
          <p:cNvPr id="3" name="Subtitle 2">
            <a:extLst>
              <a:ext uri="{FF2B5EF4-FFF2-40B4-BE49-F238E27FC236}">
                <a16:creationId xmlns:a16="http://schemas.microsoft.com/office/drawing/2014/main" id="{82CF1F40-99D2-DA80-EA01-BCBECC984B02}"/>
              </a:ext>
            </a:extLst>
          </p:cNvPr>
          <p:cNvSpPr>
            <a:spLocks noGrp="1"/>
          </p:cNvSpPr>
          <p:nvPr>
            <p:ph type="subTitle" idx="1"/>
          </p:nvPr>
        </p:nvSpPr>
        <p:spPr>
          <a:xfrm>
            <a:off x="7145736" y="5216955"/>
            <a:ext cx="4754880" cy="1003638"/>
          </a:xfrm>
        </p:spPr>
        <p:txBody>
          <a:bodyPr anchor="b">
            <a:normAutofit/>
          </a:bodyPr>
          <a:lstStyle/>
          <a:p>
            <a:r>
              <a:rPr lang="en-US" sz="2200"/>
              <a:t>Predicting Invasive Fruit Fly Entry Into the US</a:t>
            </a:r>
          </a:p>
        </p:txBody>
      </p:sp>
      <p:cxnSp>
        <p:nvCxnSpPr>
          <p:cNvPr id="23" name="Straight Connector 22">
            <a:extLst>
              <a:ext uri="{FF2B5EF4-FFF2-40B4-BE49-F238E27FC236}">
                <a16:creationId xmlns:a16="http://schemas.microsoft.com/office/drawing/2014/main" id="{90236859-7780-1451-40B8-74A77E271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6232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21246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BF2F1F-6A19-A18C-FB67-597E5207BF87}"/>
              </a:ext>
            </a:extLst>
          </p:cNvPr>
          <p:cNvSpPr>
            <a:spLocks noGrp="1"/>
          </p:cNvSpPr>
          <p:nvPr>
            <p:ph type="title"/>
          </p:nvPr>
        </p:nvSpPr>
        <p:spPr>
          <a:xfrm>
            <a:off x="704088" y="914400"/>
            <a:ext cx="10780776" cy="1180210"/>
          </a:xfrm>
        </p:spPr>
        <p:txBody>
          <a:bodyPr>
            <a:normAutofit/>
          </a:bodyPr>
          <a:lstStyle/>
          <a:p>
            <a:r>
              <a:rPr lang="en-US" dirty="0"/>
              <a:t>Concept</a:t>
            </a:r>
          </a:p>
        </p:txBody>
      </p:sp>
      <p:cxnSp>
        <p:nvCxnSpPr>
          <p:cNvPr id="12" name="Straight Connector 11">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c 6" descr="Avocado">
            <a:extLst>
              <a:ext uri="{FF2B5EF4-FFF2-40B4-BE49-F238E27FC236}">
                <a16:creationId xmlns:a16="http://schemas.microsoft.com/office/drawing/2014/main" id="{CC5AB78B-8EFF-9AEE-213D-5FBC8024FC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36838" y="2286633"/>
            <a:ext cx="3876421" cy="3876421"/>
          </a:xfrm>
          <a:prstGeom prst="rect">
            <a:avLst/>
          </a:prstGeom>
        </p:spPr>
      </p:pic>
      <p:sp>
        <p:nvSpPr>
          <p:cNvPr id="3" name="Content Placeholder 2">
            <a:extLst>
              <a:ext uri="{FF2B5EF4-FFF2-40B4-BE49-F238E27FC236}">
                <a16:creationId xmlns:a16="http://schemas.microsoft.com/office/drawing/2014/main" id="{2FE45688-F327-9042-E6AE-0586D1864BD5}"/>
              </a:ext>
            </a:extLst>
          </p:cNvPr>
          <p:cNvSpPr>
            <a:spLocks noGrp="1"/>
          </p:cNvSpPr>
          <p:nvPr>
            <p:ph idx="1"/>
          </p:nvPr>
        </p:nvSpPr>
        <p:spPr>
          <a:xfrm>
            <a:off x="6664960" y="2346960"/>
            <a:ext cx="4819903" cy="3775456"/>
          </a:xfrm>
        </p:spPr>
        <p:txBody>
          <a:bodyPr>
            <a:normAutofit/>
          </a:bodyPr>
          <a:lstStyle/>
          <a:p>
            <a:pPr>
              <a:lnSpc>
                <a:spcPct val="100000"/>
              </a:lnSpc>
            </a:pPr>
            <a:r>
              <a:rPr lang="en-US" sz="1900"/>
              <a:t>Invasive fruit flies cause millions of dollars of damage to the USA every year. </a:t>
            </a:r>
          </a:p>
          <a:p>
            <a:pPr>
              <a:lnSpc>
                <a:spcPct val="100000"/>
              </a:lnSpc>
            </a:pPr>
            <a:r>
              <a:rPr lang="en-US" sz="1900"/>
              <a:t> They enter through ports of entry, land, sea and airports.</a:t>
            </a:r>
          </a:p>
          <a:p>
            <a:pPr>
              <a:lnSpc>
                <a:spcPct val="100000"/>
              </a:lnSpc>
            </a:pPr>
            <a:r>
              <a:rPr lang="en-US" sz="1900"/>
              <a:t>Our systems goal is to determine the riskiest times and countries from which imports and passengers arrive every year.</a:t>
            </a:r>
          </a:p>
          <a:p>
            <a:pPr>
              <a:lnSpc>
                <a:spcPct val="100000"/>
              </a:lnSpc>
            </a:pPr>
            <a:r>
              <a:rPr lang="en-US" sz="1900"/>
              <a:t>We seek to make suggestions on a triaged approach to stopping the most fly outbreaks for the least investment of money and manpower. </a:t>
            </a:r>
          </a:p>
        </p:txBody>
      </p:sp>
    </p:spTree>
    <p:extLst>
      <p:ext uri="{BB962C8B-B14F-4D97-AF65-F5344CB8AC3E}">
        <p14:creationId xmlns:p14="http://schemas.microsoft.com/office/powerpoint/2010/main" val="352667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C2F468-D6D1-2B37-BF58-15E0C793DCB2}"/>
              </a:ext>
            </a:extLst>
          </p:cNvPr>
          <p:cNvSpPr>
            <a:spLocks noGrp="1"/>
          </p:cNvSpPr>
          <p:nvPr>
            <p:ph type="title"/>
          </p:nvPr>
        </p:nvSpPr>
        <p:spPr>
          <a:xfrm>
            <a:off x="5248656" y="914400"/>
            <a:ext cx="6236208" cy="1307592"/>
          </a:xfrm>
        </p:spPr>
        <p:txBody>
          <a:bodyPr>
            <a:normAutofit/>
          </a:bodyPr>
          <a:lstStyle/>
          <a:p>
            <a:r>
              <a:rPr lang="en-US"/>
              <a:t>Approach</a:t>
            </a:r>
            <a:endParaRPr lang="en-US" dirty="0"/>
          </a:p>
        </p:txBody>
      </p:sp>
      <p:pic>
        <p:nvPicPr>
          <p:cNvPr id="5" name="Picture 4" descr="World map with flight paths">
            <a:extLst>
              <a:ext uri="{FF2B5EF4-FFF2-40B4-BE49-F238E27FC236}">
                <a16:creationId xmlns:a16="http://schemas.microsoft.com/office/drawing/2014/main" id="{2BE585C1-FD23-CFE4-1566-DCE2F223BB77}"/>
              </a:ext>
            </a:extLst>
          </p:cNvPr>
          <p:cNvPicPr>
            <a:picLocks noChangeAspect="1"/>
          </p:cNvPicPr>
          <p:nvPr/>
        </p:nvPicPr>
        <p:blipFill>
          <a:blip r:embed="rId2"/>
          <a:srcRect l="23072" r="30518"/>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E97C778-6465-8163-2852-C89BEFB301B5}"/>
              </a:ext>
            </a:extLst>
          </p:cNvPr>
          <p:cNvSpPr>
            <a:spLocks noGrp="1"/>
          </p:cNvSpPr>
          <p:nvPr>
            <p:ph idx="1"/>
          </p:nvPr>
        </p:nvSpPr>
        <p:spPr>
          <a:xfrm>
            <a:off x="5248656" y="2221992"/>
            <a:ext cx="6236208" cy="3941064"/>
          </a:xfrm>
        </p:spPr>
        <p:txBody>
          <a:bodyPr>
            <a:normAutofit/>
          </a:bodyPr>
          <a:lstStyle/>
          <a:p>
            <a:pPr>
              <a:lnSpc>
                <a:spcPct val="100000"/>
              </a:lnSpc>
            </a:pPr>
            <a:r>
              <a:rPr lang="en-US" dirty="0"/>
              <a:t>Aggregate data related to fruit fly outbreaks in the US, sorted by jurisdiction, fly type, date, etc. </a:t>
            </a:r>
            <a:endParaRPr lang="en-US"/>
          </a:p>
          <a:p>
            <a:pPr>
              <a:lnSpc>
                <a:spcPct val="100000"/>
              </a:lnSpc>
            </a:pPr>
            <a:r>
              <a:rPr lang="en-US" dirty="0"/>
              <a:t>Collect trade and flight data from countries around the world, land, sea, and air imports and passengers. </a:t>
            </a:r>
            <a:endParaRPr lang="en-US"/>
          </a:p>
          <a:p>
            <a:pPr>
              <a:lnSpc>
                <a:spcPct val="100000"/>
              </a:lnSpc>
            </a:pPr>
            <a:r>
              <a:rPr lang="en-US" dirty="0"/>
              <a:t>Design a statistical/ML model to determine the riskiest countries to import from during certain times of the year. </a:t>
            </a:r>
            <a:endParaRPr lang="en-US"/>
          </a:p>
          <a:p>
            <a:pPr>
              <a:lnSpc>
                <a:spcPct val="100000"/>
              </a:lnSpc>
            </a:pPr>
            <a:r>
              <a:rPr lang="en-US" dirty="0"/>
              <a:t>Make suggestions regarding increased screening for imports and flights from those countries, during only their riskiest seasons, to increase efficiency of resources in preventative screening. </a:t>
            </a:r>
            <a:endParaRPr lang="en-US"/>
          </a:p>
        </p:txBody>
      </p:sp>
    </p:spTree>
    <p:extLst>
      <p:ext uri="{BB962C8B-B14F-4D97-AF65-F5344CB8AC3E}">
        <p14:creationId xmlns:p14="http://schemas.microsoft.com/office/powerpoint/2010/main" val="267906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279C-299E-EF1D-1183-11A93F71BC9E}"/>
              </a:ext>
            </a:extLst>
          </p:cNvPr>
          <p:cNvSpPr>
            <a:spLocks noGrp="1"/>
          </p:cNvSpPr>
          <p:nvPr>
            <p:ph type="title"/>
          </p:nvPr>
        </p:nvSpPr>
        <p:spPr/>
        <p:txBody>
          <a:bodyPr/>
          <a:lstStyle/>
          <a:p>
            <a:r>
              <a:rPr lang="en-US" dirty="0"/>
              <a:t>Dataset explanation</a:t>
            </a:r>
          </a:p>
        </p:txBody>
      </p:sp>
      <p:graphicFrame>
        <p:nvGraphicFramePr>
          <p:cNvPr id="15" name="Content Placeholder 2">
            <a:extLst>
              <a:ext uri="{FF2B5EF4-FFF2-40B4-BE49-F238E27FC236}">
                <a16:creationId xmlns:a16="http://schemas.microsoft.com/office/drawing/2014/main" id="{75C587E4-F22C-B1AE-EF03-5089EAEEBC8D}"/>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4932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A9C8E-D4F9-EE1A-C80E-BBA0B4AB43C6}"/>
              </a:ext>
            </a:extLst>
          </p:cNvPr>
          <p:cNvSpPr>
            <a:spLocks noGrp="1"/>
          </p:cNvSpPr>
          <p:nvPr>
            <p:ph type="title"/>
          </p:nvPr>
        </p:nvSpPr>
        <p:spPr/>
        <p:txBody>
          <a:bodyPr/>
          <a:lstStyle/>
          <a:p>
            <a:r>
              <a:rPr lang="en-US" dirty="0"/>
              <a:t>Risk score</a:t>
            </a:r>
          </a:p>
        </p:txBody>
      </p:sp>
      <p:sp>
        <p:nvSpPr>
          <p:cNvPr id="3" name="Content Placeholder 2">
            <a:extLst>
              <a:ext uri="{FF2B5EF4-FFF2-40B4-BE49-F238E27FC236}">
                <a16:creationId xmlns:a16="http://schemas.microsoft.com/office/drawing/2014/main" id="{0552B1E0-5C04-B84A-8116-8228220FA898}"/>
              </a:ext>
            </a:extLst>
          </p:cNvPr>
          <p:cNvSpPr>
            <a:spLocks noGrp="1"/>
          </p:cNvSpPr>
          <p:nvPr>
            <p:ph idx="1"/>
          </p:nvPr>
        </p:nvSpPr>
        <p:spPr/>
        <p:txBody>
          <a:bodyPr/>
          <a:lstStyle/>
          <a:p>
            <a:r>
              <a:rPr lang="en-US" dirty="0"/>
              <a:t>For each country, we compute the Pearson correlation between lagged inbound traffic (flights or freight) and fruit fly detections.</a:t>
            </a:r>
          </a:p>
          <a:p>
            <a:r>
              <a:rPr lang="en-US" dirty="0"/>
              <a:t>We sum the total detections for that country.</a:t>
            </a:r>
          </a:p>
          <a:p>
            <a:r>
              <a:rPr lang="en-US" dirty="0"/>
              <a:t>Base Risk =(max(correlation,0)+0.05)×(0.5×log(1+traffic total))×log(1+detection total). This lowers the effect of massive volumes of freight to try and stop it from over selecting for just high traffic. </a:t>
            </a:r>
          </a:p>
          <a:p>
            <a:r>
              <a:rPr lang="en-US" dirty="0"/>
              <a:t>If a country is a known fruit fly origin, the risk is multiplied by 2.5. This is an attempt to outweigh the impact of confounding variables and have our calculations focus on fruit flies. </a:t>
            </a:r>
          </a:p>
          <a:p>
            <a:endParaRPr lang="en-US" dirty="0"/>
          </a:p>
        </p:txBody>
      </p:sp>
    </p:spTree>
    <p:extLst>
      <p:ext uri="{BB962C8B-B14F-4D97-AF65-F5344CB8AC3E}">
        <p14:creationId xmlns:p14="http://schemas.microsoft.com/office/powerpoint/2010/main" val="125261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5ED9D-EE00-3D28-FA34-AD3F8EFB3BBB}"/>
              </a:ext>
            </a:extLst>
          </p:cNvPr>
          <p:cNvSpPr>
            <a:spLocks noGrp="1"/>
          </p:cNvSpPr>
          <p:nvPr>
            <p:ph type="title"/>
          </p:nvPr>
        </p:nvSpPr>
        <p:spPr/>
        <p:txBody>
          <a:bodyPr/>
          <a:lstStyle/>
          <a:p>
            <a:r>
              <a:rPr lang="en-US" dirty="0"/>
              <a:t>Tech Demo</a:t>
            </a:r>
          </a:p>
        </p:txBody>
      </p:sp>
      <p:sp>
        <p:nvSpPr>
          <p:cNvPr id="3" name="Content Placeholder 2">
            <a:extLst>
              <a:ext uri="{FF2B5EF4-FFF2-40B4-BE49-F238E27FC236}">
                <a16:creationId xmlns:a16="http://schemas.microsoft.com/office/drawing/2014/main" id="{BFA47876-1C0A-96F0-65FC-126110A0B01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47266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2555FE-68EF-A907-CEC7-74493FC95156}"/>
              </a:ext>
            </a:extLst>
          </p:cNvPr>
          <p:cNvSpPr>
            <a:spLocks noGrp="1"/>
          </p:cNvSpPr>
          <p:nvPr>
            <p:ph type="title"/>
          </p:nvPr>
        </p:nvSpPr>
        <p:spPr>
          <a:xfrm>
            <a:off x="704088" y="914400"/>
            <a:ext cx="6239599" cy="1307590"/>
          </a:xfrm>
        </p:spPr>
        <p:txBody>
          <a:bodyPr>
            <a:normAutofit/>
          </a:bodyPr>
          <a:lstStyle/>
          <a:p>
            <a:r>
              <a:rPr lang="en-US" dirty="0"/>
              <a:t>Reflection</a:t>
            </a:r>
          </a:p>
        </p:txBody>
      </p:sp>
      <p:cxnSp>
        <p:nvCxnSpPr>
          <p:cNvPr id="16" name="Straight Connector 15">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2AE439-3441-EC69-4051-43A643B124F5}"/>
              </a:ext>
            </a:extLst>
          </p:cNvPr>
          <p:cNvSpPr>
            <a:spLocks noGrp="1"/>
          </p:cNvSpPr>
          <p:nvPr>
            <p:ph idx="1"/>
          </p:nvPr>
        </p:nvSpPr>
        <p:spPr>
          <a:xfrm>
            <a:off x="704088" y="2221992"/>
            <a:ext cx="6239599" cy="3941064"/>
          </a:xfrm>
        </p:spPr>
        <p:txBody>
          <a:bodyPr>
            <a:normAutofit/>
          </a:bodyPr>
          <a:lstStyle/>
          <a:p>
            <a:pPr>
              <a:lnSpc>
                <a:spcPct val="100000"/>
              </a:lnSpc>
            </a:pPr>
            <a:r>
              <a:rPr lang="en-US" sz="1400" dirty="0"/>
              <a:t>Our data was not large enough or specific enough to make reliable predictions about fruit fly risk. For example, we did not have data about import contents, nor a sufficient way to map the destination of imports to counties. More time would allow for more in-depth research on datasets to use in our system. </a:t>
            </a:r>
          </a:p>
          <a:p>
            <a:pPr>
              <a:lnSpc>
                <a:spcPct val="100000"/>
              </a:lnSpc>
            </a:pPr>
            <a:r>
              <a:rPr lang="en-US" sz="1400" dirty="0"/>
              <a:t>Confounding variables. The seasonality of fruits, vegetables, and international travel means that we have high correlations between outbreaks and recreational travel from other countries. This makes our conclusions less reliable, as we do not have specific enough data to rule out erroneous correlations. </a:t>
            </a:r>
          </a:p>
          <a:p>
            <a:pPr>
              <a:lnSpc>
                <a:spcPct val="100000"/>
              </a:lnSpc>
            </a:pPr>
            <a:r>
              <a:rPr lang="en-US" sz="1400" dirty="0"/>
              <a:t>Considering expanding our project, more time and investment into data aggregation and linking would be the highest ROI improvement we could make. Suggested data to procure, product data for outbreaks (what the flies were found infesting), domestic shipping and receiving data, specific imported items and produce data.</a:t>
            </a:r>
          </a:p>
        </p:txBody>
      </p:sp>
      <p:pic>
        <p:nvPicPr>
          <p:cNvPr id="17" name="Picture 16" descr="Top view of different fruits and vegetables">
            <a:extLst>
              <a:ext uri="{FF2B5EF4-FFF2-40B4-BE49-F238E27FC236}">
                <a16:creationId xmlns:a16="http://schemas.microsoft.com/office/drawing/2014/main" id="{C1AA70C0-AB7E-CE4C-3229-ACD1C9292D17}"/>
              </a:ext>
            </a:extLst>
          </p:cNvPr>
          <p:cNvPicPr>
            <a:picLocks noChangeAspect="1"/>
          </p:cNvPicPr>
          <p:nvPr/>
        </p:nvPicPr>
        <p:blipFill>
          <a:blip r:embed="rId2"/>
          <a:srcRect l="26217" r="30775"/>
          <a:stretch>
            <a:fillRect/>
          </a:stretch>
        </p:blipFill>
        <p:spPr>
          <a:xfrm>
            <a:off x="7583424" y="10"/>
            <a:ext cx="4608576" cy="6857990"/>
          </a:xfrm>
          <a:prstGeom prst="rect">
            <a:avLst/>
          </a:prstGeom>
        </p:spPr>
      </p:pic>
    </p:spTree>
    <p:extLst>
      <p:ext uri="{BB962C8B-B14F-4D97-AF65-F5344CB8AC3E}">
        <p14:creationId xmlns:p14="http://schemas.microsoft.com/office/powerpoint/2010/main" val="2732888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678F9A-20D4-C1C8-0DB7-80C513FCA70F}"/>
              </a:ext>
            </a:extLst>
          </p:cNvPr>
          <p:cNvSpPr>
            <a:spLocks noGrp="1"/>
          </p:cNvSpPr>
          <p:nvPr>
            <p:ph type="title"/>
          </p:nvPr>
        </p:nvSpPr>
        <p:spPr>
          <a:xfrm>
            <a:off x="704088" y="914400"/>
            <a:ext cx="6239599" cy="1307590"/>
          </a:xfrm>
        </p:spPr>
        <p:txBody>
          <a:bodyPr>
            <a:normAutofit/>
          </a:bodyPr>
          <a:lstStyle/>
          <a:p>
            <a:r>
              <a:rPr lang="en-US" dirty="0"/>
              <a:t>Vision</a:t>
            </a:r>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8953C2-3702-40C6-106A-9C0CEC64780D}"/>
              </a:ext>
            </a:extLst>
          </p:cNvPr>
          <p:cNvSpPr>
            <a:spLocks noGrp="1"/>
          </p:cNvSpPr>
          <p:nvPr>
            <p:ph idx="1"/>
          </p:nvPr>
        </p:nvSpPr>
        <p:spPr>
          <a:xfrm>
            <a:off x="704088" y="2221992"/>
            <a:ext cx="6239599" cy="3941064"/>
          </a:xfrm>
        </p:spPr>
        <p:txBody>
          <a:bodyPr>
            <a:normAutofit/>
          </a:bodyPr>
          <a:lstStyle/>
          <a:p>
            <a:pPr>
              <a:lnSpc>
                <a:spcPct val="100000"/>
              </a:lnSpc>
            </a:pPr>
            <a:r>
              <a:rPr lang="en-US" sz="1700"/>
              <a:t>The data we want to use to better predict outbreaks and recommend screening would be massive. Thus our system is designed to trim it.</a:t>
            </a:r>
          </a:p>
          <a:p>
            <a:pPr>
              <a:lnSpc>
                <a:spcPct val="100000"/>
              </a:lnSpc>
            </a:pPr>
            <a:r>
              <a:rPr lang="en-US" sz="1700"/>
              <a:t>Our system seeks to only consider incoming flights/shipments to counties of interest and surrounding counties. Our system would only seek to consider import/travel data during the months leading up to past outbreaks.</a:t>
            </a:r>
          </a:p>
          <a:p>
            <a:pPr>
              <a:lnSpc>
                <a:spcPct val="100000"/>
              </a:lnSpc>
            </a:pPr>
            <a:r>
              <a:rPr lang="en-US" sz="1700"/>
              <a:t>This trimming of the data should reduce the computation needed and increase the relevance of all data considered. </a:t>
            </a:r>
          </a:p>
          <a:p>
            <a:pPr>
              <a:lnSpc>
                <a:spcPct val="100000"/>
              </a:lnSpc>
            </a:pPr>
            <a:r>
              <a:rPr lang="en-US" sz="1700"/>
              <a:t>Our system, if fully worked out, would seek to provide recommendations of the most efficient  increases in screening at our ports of entry.  </a:t>
            </a:r>
          </a:p>
        </p:txBody>
      </p:sp>
      <p:pic>
        <p:nvPicPr>
          <p:cNvPr id="5" name="Picture 4" descr="Back view of an airplane">
            <a:extLst>
              <a:ext uri="{FF2B5EF4-FFF2-40B4-BE49-F238E27FC236}">
                <a16:creationId xmlns:a16="http://schemas.microsoft.com/office/drawing/2014/main" id="{BAC7E7BA-6613-1E2A-F2CB-259A57392090}"/>
              </a:ext>
            </a:extLst>
          </p:cNvPr>
          <p:cNvPicPr>
            <a:picLocks noChangeAspect="1"/>
          </p:cNvPicPr>
          <p:nvPr/>
        </p:nvPicPr>
        <p:blipFill>
          <a:blip r:embed="rId2"/>
          <a:srcRect l="21646" r="33498" b="-1"/>
          <a:stretch>
            <a:fillRect/>
          </a:stretch>
        </p:blipFill>
        <p:spPr>
          <a:xfrm>
            <a:off x="7583424" y="10"/>
            <a:ext cx="4608576" cy="6857990"/>
          </a:xfrm>
          <a:prstGeom prst="rect">
            <a:avLst/>
          </a:prstGeom>
        </p:spPr>
      </p:pic>
    </p:spTree>
    <p:extLst>
      <p:ext uri="{BB962C8B-B14F-4D97-AF65-F5344CB8AC3E}">
        <p14:creationId xmlns:p14="http://schemas.microsoft.com/office/powerpoint/2010/main" val="178591455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104</TotalTime>
  <Words>589</Words>
  <Application>Microsoft Office PowerPoint</Application>
  <PresentationFormat>Widescreen</PresentationFormat>
  <Paragraphs>34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Calisto MT</vt:lpstr>
      <vt:lpstr>Neue Haas Grotesk Text Pro</vt:lpstr>
      <vt:lpstr>Univers Condensed</vt:lpstr>
      <vt:lpstr>ChronicleVTI</vt:lpstr>
      <vt:lpstr>FlySpy</vt:lpstr>
      <vt:lpstr>Concept</vt:lpstr>
      <vt:lpstr>Approach</vt:lpstr>
      <vt:lpstr>Dataset explanation</vt:lpstr>
      <vt:lpstr>Risk score</vt:lpstr>
      <vt:lpstr>Tech Demo</vt:lpstr>
      <vt:lpstr>Reflection</vt:lpstr>
      <vt:lpstr>Vision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conner scott</dc:creator>
  <cp:lastModifiedBy>conner scott</cp:lastModifiedBy>
  <cp:revision>1</cp:revision>
  <dcterms:created xsi:type="dcterms:W3CDTF">2026-04-25T21:05:34Z</dcterms:created>
  <dcterms:modified xsi:type="dcterms:W3CDTF">2026-04-25T22:49:50Z</dcterms:modified>
</cp:coreProperties>
</file>