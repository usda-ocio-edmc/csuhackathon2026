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292934"/>
                </a:solidFill>
                <a:latin typeface="Tahoma"/>
              </a:rPr>
              <a:t>Fruit Fly Pathway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7451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95959"/>
                </a:solidFill>
                <a:latin typeface="Tahoma"/>
              </a:rPr>
              <a:t>A Triage Tool for USDA APHIS Inspectors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231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Tahoma"/>
              </a:rPr>
              <a:t>CSU Hackathon 2026 · Problem 1 · FFED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4630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292934"/>
                </a:solidFill>
                <a:latin typeface="Tahoma"/>
              </a:rPr>
              <a:t>2,856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148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Tahoma"/>
              </a:rPr>
              <a:t>routes scored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7432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0000"/>
                </a:solidFill>
                <a:latin typeface="Tahoma"/>
              </a:rPr>
              <a:t>573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Tahoma"/>
              </a:rPr>
              <a:t>HIGH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8404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92934"/>
                </a:solidFill>
                <a:latin typeface="Tahoma"/>
              </a:rP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389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Tahoma"/>
              </a:rPr>
              <a:t>holdout Precision@10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292934"/>
                </a:solidFill>
                <a:latin typeface="Tahoma"/>
              </a:rPr>
              <a:t>The Inspection Capacity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LAX secondary inspection rate</a:t>
            </a:r>
            <a:r>
              <a:rPr sz="1700" b="0">
                <a:solidFill>
                  <a:srgbClr val="292934"/>
                </a:solidFill>
                <a:latin typeface="Tahoma"/>
              </a:rPr>
              <a:t> — dropped from ~20% to 2–3% as passenger volume surged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3852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Four simultaneous quarantine events</a:t>
            </a:r>
            <a:r>
              <a:rPr sz="1700" b="0">
                <a:solidFill>
                  <a:srgbClr val="292934"/>
                </a:solidFill>
                <a:latin typeface="Tahoma"/>
              </a:rPr>
              <a:t> — California 2023–2024; PPQ deployed 60 inspectors every 21–28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9689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Inspectors need signal</a:t>
            </a:r>
            <a:r>
              <a:rPr sz="1700" b="0">
                <a:solidFill>
                  <a:srgbClr val="292934"/>
                </a:solidFill>
                <a:latin typeface="Tahoma"/>
              </a:rPr>
              <a:t> — not more data; the pathway exists, the question is which one to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Tahoma"/>
              </a:rPr>
              <a:t>All international pathways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353312"/>
            <a:ext cx="3200400" cy="320040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Tahoma"/>
              </a:rPr>
              <a:t>Currently inspected (&lt;5%)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2084831"/>
            <a:ext cx="164592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50545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Tahoma"/>
              </a:rPr>
              <a:t>inspection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017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92934"/>
                </a:solidFill>
                <a:latin typeface="Tahoma"/>
              </a:rPr>
              <a:t>Top 20% of routes → 60.8% of detection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383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92934"/>
                </a:solidFill>
                <a:latin typeface="Tahoma"/>
              </a:rPr>
              <a:t>Top 10% of routes → 34.1% of detection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595959"/>
                </a:solidFill>
                <a:latin typeface="Tahoma"/>
              </a:rPr>
              <a:t>Bartels, D., Meroni, M., &amp; Kennaway, L. (2026). Pathway Analysis Supporting USDA's FFED Program. USDA APHIS PPQ.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292934"/>
                </a:solidFill>
                <a:latin typeface="Tahoma"/>
              </a:rPr>
              <a:t>Biology + Pathway + Economics = Urgent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Tephritidae establish fast</a:t>
            </a:r>
            <a:r>
              <a:rPr sz="1700" b="0">
                <a:solidFill>
                  <a:srgbClr val="292934"/>
                </a:solidFill>
                <a:latin typeface="Tahoma"/>
              </a:rPr>
              <a:t> — mated female arrives in host fruit; larvae develop inside; pupae survive in soil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3852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Climate match drives establishment</a:t>
            </a:r>
            <a:r>
              <a:rPr sz="1700" b="0">
                <a:solidFill>
                  <a:srgbClr val="292934"/>
                </a:solidFill>
                <a:latin typeface="Tahoma"/>
              </a:rPr>
              <a:t> — subtropical and tropical US zones (FL, CA, TX) are highly susceptible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9689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Economic cost is asymmetric</a:t>
            </a:r>
            <a:r>
              <a:rPr sz="1700" b="0">
                <a:solidFill>
                  <a:srgbClr val="292934"/>
                </a:solidFill>
                <a:latin typeface="Tahoma"/>
              </a:rPr>
              <a:t> — single eradication event costs $10M–$100M; interception costs pennies per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630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92934"/>
                </a:solidFill>
                <a:latin typeface="Tahoma"/>
              </a:rPr>
              <a:t>$1.5B+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0195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Tahoma"/>
              </a:rPr>
              <a:t>annual agricultural risk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2240280"/>
            <a:ext cx="347472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0" y="25603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0000"/>
                </a:solidFill>
                <a:latin typeface="Tahoma"/>
              </a:rPr>
              <a:t>13 species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9992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Tahoma"/>
              </a:rPr>
              <a:t>APHIS-regulated Tephritidae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0" y="3337560"/>
            <a:ext cx="347472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0" y="36576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92934"/>
                </a:solidFill>
                <a:latin typeface="Tahoma"/>
              </a:rPr>
              <a:t>21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09651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Tahoma"/>
              </a:rPr>
              <a:t>typical eradication response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595959"/>
                </a:solidFill>
                <a:latin typeface="Tahoma"/>
              </a:rPr>
              <a:t>USDA APHIS. (2024). Exotic Fruit Flies. aphis.usda.gov/plant-pests-diseases/fruit-flies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292934"/>
                </a:solidFill>
                <a:latin typeface="Tahoma"/>
              </a:rPr>
              <a:t>Explainable Risk Scoring at Route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Route-level granularity</a:t>
            </a:r>
            <a:r>
              <a:rPr sz="1700" b="0">
                <a:solidFill>
                  <a:srgbClr val="292934"/>
                </a:solidFill>
                <a:latin typeface="Tahoma"/>
              </a:rPr>
              <a:t> — scored at origin × port × commodity × month (2,856 combinations)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3852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Two-layer formula</a:t>
            </a:r>
            <a:r>
              <a:rPr sz="1700" b="0">
                <a:solidFill>
                  <a:srgbClr val="292934"/>
                </a:solidFill>
                <a:latin typeface="Tahoma"/>
              </a:rPr>
              <a:t> — structural risk (biology + volume + host) × operational surge modifier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9689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Percentile tiering</a:t>
            </a:r>
            <a:r>
              <a:rPr sz="1700" b="0">
                <a:solidFill>
                  <a:srgbClr val="292934"/>
                </a:solidFill>
                <a:latin typeface="Tahoma"/>
              </a:rPr>
              <a:t> — top 20% = HIGH; always actionable regardless of absolute score spread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5526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Hemisphere-aware seasonality</a:t>
            </a:r>
            <a:r>
              <a:rPr sz="1700" b="0">
                <a:solidFill>
                  <a:srgbClr val="292934"/>
                </a:solidFill>
                <a:latin typeface="Tahoma"/>
              </a:rPr>
              <a:t> — southern hemisphere origins get 6-month phase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09728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92934"/>
                </a:solidFill>
                <a:latin typeface="Tahoma"/>
              </a:rPr>
              <a:t>Fly–host co-occurrence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09728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00000"/>
                </a:solidFill>
                <a:latin typeface="Tahoma"/>
              </a:rPr>
              <a:t>35%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280160"/>
            <a:ext cx="1216152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691639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92934"/>
                </a:solidFill>
                <a:latin typeface="Tahoma"/>
              </a:rPr>
              <a:t>Volume /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691639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00000"/>
                </a:solidFill>
                <a:latin typeface="Tahoma"/>
              </a:rPr>
              <a:t>25%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874519"/>
            <a:ext cx="868680" cy="256032"/>
          </a:xfrm>
          <a:prstGeom prst="rect">
            <a:avLst/>
          </a:prstGeom>
          <a:solidFill>
            <a:srgbClr val="292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2860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92934"/>
                </a:solidFill>
                <a:latin typeface="Tahoma"/>
              </a:rPr>
              <a:t>Host commodity fraction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28600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00000"/>
                </a:solidFill>
                <a:latin typeface="Tahoma"/>
              </a:rPr>
              <a:t>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2468880"/>
            <a:ext cx="694944" cy="256032"/>
          </a:xfrm>
          <a:prstGeom prst="rect">
            <a:avLst/>
          </a:prstGeom>
          <a:solidFill>
            <a:srgbClr val="292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8803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92934"/>
                </a:solidFill>
                <a:latin typeface="Tahoma"/>
              </a:rPr>
              <a:t>Route frequency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88036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00000"/>
                </a:solidFill>
                <a:latin typeface="Tahoma"/>
              </a:rPr>
              <a:t>10%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3063240"/>
            <a:ext cx="347472" cy="256032"/>
          </a:xfrm>
          <a:prstGeom prst="rect">
            <a:avLst/>
          </a:prstGeom>
          <a:solidFill>
            <a:srgbClr val="292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34747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92934"/>
                </a:solidFill>
                <a:latin typeface="Tahoma"/>
              </a:rPr>
              <a:t>Detection proximity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4747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00000"/>
                </a:solidFill>
                <a:latin typeface="Tahoma"/>
              </a:rPr>
              <a:t>10%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3657600"/>
            <a:ext cx="347472" cy="256032"/>
          </a:xfrm>
          <a:prstGeom prst="rect">
            <a:avLst/>
          </a:prstGeom>
          <a:solidFill>
            <a:srgbClr val="292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4389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Tahoma"/>
              </a:rPr>
              <a:t>Weights sum to 1.0 · enforced in 77 passing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595959"/>
                </a:solidFill>
                <a:latin typeface="Tahoma"/>
              </a:rPr>
              <a:t>See docs/RISK_FORMULA.md for full derivation and weight rationale.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292934"/>
                </a:solidFill>
                <a:latin typeface="Tahoma"/>
              </a:rPr>
              <a:t>Transparent, Auditable, Operationally Aligned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Explainability over accuracy</a:t>
            </a:r>
            <a:r>
              <a:rPr sz="1700" b="0">
                <a:solidFill>
                  <a:srgbClr val="292934"/>
                </a:solidFill>
                <a:latin typeface="Tahoma"/>
              </a:rPr>
              <a:t> — APHIS decisions require defensible rationale; black-box models fail in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3852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Structural vs. surge separation</a:t>
            </a:r>
            <a:r>
              <a:rPr sz="1700" b="0">
                <a:solidFill>
                  <a:srgbClr val="292934"/>
                </a:solidFill>
                <a:latin typeface="Tahoma"/>
              </a:rPr>
              <a:t> — stable pathway risk separated from short-term tactical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9689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Leakage-aware validation</a:t>
            </a:r>
            <a:r>
              <a:rPr sz="1700" b="0">
                <a:solidFill>
                  <a:srgbClr val="292934"/>
                </a:solidFill>
                <a:latin typeface="Tahoma"/>
              </a:rPr>
              <a:t> — detection proximity (10%) uses same data as validation; disclosed and sensitivity-tested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234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Tahoma"/>
              </a:rPr>
              <a:t>Traditional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234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2934"/>
                </a:solidFill>
                <a:latin typeface="Tahoma"/>
              </a:rPr>
              <a:t>This system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1527048"/>
            <a:ext cx="356616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80" y="1188720"/>
            <a:ext cx="0" cy="338328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37760" y="17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Tahoma"/>
              </a:rPr>
              <a:t>Black-box ML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737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92934"/>
                </a:solidFill>
                <a:latin typeface="Tahoma"/>
              </a:rPr>
              <a:t>5 auditable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286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92934"/>
                </a:solidFill>
                <a:latin typeface="Tahoma"/>
              </a:rPr>
              <a:t>Port-level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286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Tahoma"/>
              </a:rPr>
              <a:t>Route × commodity ×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83463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Tahoma"/>
              </a:rPr>
              <a:t>No seasonal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83463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92934"/>
                </a:solidFill>
                <a:latin typeface="Tahoma"/>
              </a:rPr>
              <a:t>Hemisphere-aware multiplier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38327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92934"/>
                </a:solidFill>
                <a:latin typeface="Tahoma"/>
              </a:rPr>
              <a:t>No validation caveats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38327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Tahoma"/>
              </a:rPr>
              <a:t>Leakage sensitivity published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931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Tahoma"/>
              </a:rPr>
              <a:t>Static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931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92934"/>
                </a:solidFill>
                <a:latin typeface="Tahoma"/>
              </a:rPr>
              <a:t>Live S3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595959"/>
                </a:solidFill>
                <a:latin typeface="Tahoma"/>
              </a:rPr>
              <a:t>Validation and caveats documented in data/exports/VALIDATION_REPORT.md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292934"/>
                </a:solidFill>
                <a:latin typeface="Tahoma"/>
              </a:rPr>
              <a:t>End-to-End in 30 Seconds on a Laptop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Phase 1 — Ingest</a:t>
            </a:r>
            <a:r>
              <a:rPr sz="1700" b="0">
                <a:solidFill>
                  <a:srgbClr val="292934"/>
                </a:solidFill>
                <a:latin typeface="Tahoma"/>
              </a:rPr>
              <a:t> — BTS T-100 passengers + FATUS cargo + GBIF species + APHIS detections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3852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Phase 2 — Score</a:t>
            </a:r>
            <a:r>
              <a:rPr sz="1700" b="0">
                <a:solidFill>
                  <a:srgbClr val="292934"/>
                </a:solidFill>
                <a:latin typeface="Tahoma"/>
              </a:rPr>
              <a:t> — weighted formula applied to 2,856 routes; tiers assigned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9689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Phase 3 — Validate</a:t>
            </a:r>
            <a:r>
              <a:rPr sz="1700" b="0">
                <a:solidFill>
                  <a:srgbClr val="292934"/>
                </a:solidFill>
                <a:latin typeface="Tahoma"/>
              </a:rPr>
              <a:t> — back-tested against 5 years of APHIS detection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5526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Phase 4 — Publish</a:t>
            </a:r>
            <a:r>
              <a:rPr sz="1700" b="0">
                <a:solidFill>
                  <a:srgbClr val="292934"/>
                </a:solidFill>
                <a:latin typeface="Tahoma"/>
              </a:rPr>
              <a:t> — GeoJSON layers → ArcGIS Dashboard + S3 cockpit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2934"/>
                </a:solidFill>
                <a:latin typeface="Tahoma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62763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Tahoma"/>
              </a:rPr>
              <a:t>BTS · FATUS · GBIF · APHIS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75120" y="1901952"/>
            <a:ext cx="0" cy="27432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6638544" y="2176272"/>
            <a:ext cx="73152" cy="58521"/>
          </a:xfrm>
          <a:prstGeom prst="triangle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194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Tahoma"/>
              </a:rPr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450591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Tahoma"/>
              </a:rPr>
              <a:t>2,856 routes · 5 components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75120" y="2724912"/>
            <a:ext cx="0" cy="27432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6638544" y="2999232"/>
            <a:ext cx="73152" cy="58521"/>
          </a:xfrm>
          <a:prstGeom prst="triangle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3017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2934"/>
                </a:solidFill>
                <a:latin typeface="Tahoma"/>
              </a:rP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27355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Tahoma"/>
              </a:rPr>
              <a:t>Pearson 0.762 · P@10 100%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75120" y="3547872"/>
            <a:ext cx="0" cy="274319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6638544" y="3822191"/>
            <a:ext cx="73152" cy="58521"/>
          </a:xfrm>
          <a:prstGeom prst="triangle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3840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2934"/>
                </a:solidFill>
                <a:latin typeface="Tahoma"/>
              </a:rPr>
              <a:t>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09651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Tahoma"/>
              </a:rPr>
              <a:t>ArcGIS + S3 · ~30 seconds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595959"/>
                </a:solidFill>
                <a:latin typeface="Tahoma"/>
              </a:rPr>
              <a:t>Pipeline summary from README.md and data/exports/PHASE_STATUS_LIVE.md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292934"/>
                </a:solidFill>
                <a:latin typeface="Tahoma"/>
              </a:rPr>
              <a:t>Validated Against Five Years of APHIS Detections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Pearson r 0.762</a:t>
            </a:r>
            <a:r>
              <a:rPr sz="1700" b="0">
                <a:solidFill>
                  <a:srgbClr val="292934"/>
                </a:solidFill>
                <a:latin typeface="Tahoma"/>
              </a:rPr>
              <a:t> — port-level risk vs. detection count; strong operational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3852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Precision@10: 100%</a:t>
            </a:r>
            <a:r>
              <a:rPr sz="1700" b="0">
                <a:solidFill>
                  <a:srgbClr val="292934"/>
                </a:solidFill>
                <a:latin typeface="Tahoma"/>
              </a:rPr>
              <a:t> — all top-10 routes had a nearby APHIS detection in-sample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9689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HIGH-tier lift: 9.01×</a:t>
            </a:r>
            <a:r>
              <a:rPr sz="1700" b="0">
                <a:solidFill>
                  <a:srgbClr val="292934"/>
                </a:solidFill>
                <a:latin typeface="Tahoma"/>
              </a:rPr>
              <a:t> — HIGH routes have 9× more detections than LOW-tier routes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5526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Temporal holdout: 90%</a:t>
            </a:r>
            <a:r>
              <a:rPr sz="1700" b="0">
                <a:solidFill>
                  <a:srgbClr val="292934"/>
                </a:solidFill>
                <a:latin typeface="Tahoma"/>
              </a:rPr>
              <a:t> — train ≤2022, test ≥2023; Precision@10 holds on future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13631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Surveillance bias disclosed</a:t>
            </a:r>
            <a:r>
              <a:rPr sz="1700" b="0">
                <a:solidFill>
                  <a:srgbClr val="292934"/>
                </a:solidFill>
                <a:latin typeface="Tahoma"/>
              </a:rPr>
              <a:t> — detections reflect where inspectors trapped, not where flies arrived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3716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92934"/>
                </a:solidFill>
                <a:latin typeface="Tahoma"/>
              </a:rPr>
              <a:t>0.762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74519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Tahoma"/>
              </a:rPr>
              <a:t>Pearson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00000"/>
                </a:solidFill>
                <a:latin typeface="Tahoma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19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Tahoma"/>
              </a:rPr>
              <a:t>Precision@10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9260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92934"/>
                </a:solidFill>
                <a:latin typeface="Tahoma"/>
              </a:rPr>
              <a:t>9.01×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4290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Tahoma"/>
              </a:rPr>
              <a:t>HIGH/LOW lift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92934"/>
                </a:solidFill>
                <a:latin typeface="Tahoma"/>
              </a:rPr>
              <a:t>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290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Tahoma"/>
              </a:rPr>
              <a:t>holdout P@10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55080" y="1188720"/>
            <a:ext cx="0" cy="265176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937760" y="2606040"/>
            <a:ext cx="310896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595959"/>
                </a:solidFill>
                <a:latin typeface="Tahoma"/>
              </a:rPr>
              <a:t>Full methodology in data/exports/VALIDATION_REPORT.md · Leakage sensitivity in validation_sensitivity.csv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292934"/>
                </a:solidFill>
                <a:latin typeface="Tahoma"/>
              </a:rPr>
              <a:t>Monday Morning Command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Top 3 surge routes</a:t>
            </a:r>
            <a:r>
              <a:rPr sz="1700" b="0">
                <a:solidFill>
                  <a:srgbClr val="292934"/>
                </a:solidFill>
                <a:latin typeface="Tahoma"/>
              </a:rPr>
              <a:t> — shown immediately on load; no scrolling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3852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Why this route</a:t>
            </a:r>
            <a:r>
              <a:rPr sz="1700" b="0">
                <a:solidFill>
                  <a:srgbClr val="292934"/>
                </a:solidFill>
                <a:latin typeface="Tahoma"/>
              </a:rPr>
              <a:t> — seasonal narrative: specific fly × commodity × import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9689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Diversity toggle</a:t>
            </a:r>
            <a:r>
              <a:rPr sz="1700" b="0">
                <a:solidFill>
                  <a:srgbClr val="292934"/>
                </a:solidFill>
                <a:latin typeface="Tahoma"/>
              </a:rPr>
              <a:t> — forces one route per origin country; surfaces THA, COL, GTM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5526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Inspection capacity mode</a:t>
            </a:r>
            <a:r>
              <a:rPr sz="1700" b="0">
                <a:solidFill>
                  <a:srgbClr val="292934"/>
                </a:solidFill>
                <a:latin typeface="Tahoma"/>
              </a:rPr>
              <a:t> — ranks by uninspected risk when secondary rate drops to 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13631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ArcGIS layers live</a:t>
            </a:r>
            <a:r>
              <a:rPr sz="1700" b="0">
                <a:solidFill>
                  <a:srgbClr val="292934"/>
                </a:solidFill>
                <a:latin typeface="Tahoma"/>
              </a:rPr>
              <a:t> — country choropleth, port bubbles, route lines, detection overlay</a:t>
            </a:r>
          </a:p>
        </p:txBody>
      </p:sp>
      <p:pic>
        <p:nvPicPr>
          <p:cNvPr id="8" name="Picture 7" descr="tmpajd22dh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18288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34747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Tahoma"/>
              </a:rPr>
              <a:t>https://ffed-hackathon-mahanyas.s3.us-west-2.amazonaws.com/dashboard.html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40233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ArcGIS Dashboard: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3159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Tahoma"/>
              </a:rPr>
              <a:t>csurams.maps.arcgis.com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595959"/>
                </a:solidFill>
                <a:latin typeface="Tahoma"/>
              </a:rPr>
              <a:t>Live command center and ArcGIS assets are public per data/exports/PHASE_STATUS_LIVE.md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292934"/>
                </a:solidFill>
                <a:latin typeface="Tahoma"/>
              </a:rPr>
              <a:t>What Arrives Next? Forward-Looking Threat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Beyond regulated species</a:t>
            </a:r>
            <a:r>
              <a:rPr sz="1700" b="0">
                <a:solidFill>
                  <a:srgbClr val="292934"/>
                </a:solidFill>
                <a:latin typeface="Tahoma"/>
              </a:rPr>
              <a:t> — current model scores 13 known species; new layer scores species not yet established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3852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Climate compatibility matrix</a:t>
            </a:r>
            <a:r>
              <a:rPr sz="1700" b="0">
                <a:solidFill>
                  <a:srgbClr val="292934"/>
                </a:solidFill>
                <a:latin typeface="Tahoma"/>
              </a:rPr>
              <a:t> — species affinity × US port state → establishment modifier (0.5–1.5×)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9689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Queensland fruit fly example</a:t>
            </a:r>
            <a:r>
              <a:rPr sz="1700" b="0">
                <a:solidFill>
                  <a:srgbClr val="292934"/>
                </a:solidFill>
                <a:latin typeface="Tahoma"/>
              </a:rPr>
              <a:t> — Bactrocera tryoni, subtropical affinity, establishment potential 0.88 in FL and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5526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Surveillance gap flag</a:t>
            </a:r>
            <a:r>
              <a:rPr sz="1700" b="0">
                <a:solidFill>
                  <a:srgbClr val="292934"/>
                </a:solidFill>
                <a:latin typeface="Tahoma"/>
              </a:rPr>
              <a:t> — HIGH-risk routes with zero nearby detections = candidate sites for new trap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3258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Tahoma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3258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92934"/>
                </a:solidFill>
                <a:latin typeface="Tahoma"/>
              </a:rPr>
              <a:t>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3258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92934"/>
                </a:solidFill>
                <a:latin typeface="Tahoma"/>
              </a:rPr>
              <a:t>SEA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3258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92934"/>
                </a:solidFill>
                <a:latin typeface="Tahoma"/>
              </a:rPr>
              <a:t>LAND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0" y="1591056"/>
            <a:ext cx="347472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37760" y="182880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92934"/>
                </a:solidFill>
                <a:latin typeface="Tahoma"/>
              </a:rPr>
              <a:t>Fruit fly (current)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8288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2934"/>
                </a:solidFill>
                <a:latin typeface="Tahom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8288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2934"/>
                </a:solidFill>
                <a:latin typeface="Tahoma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18288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2934"/>
                </a:solidFill>
                <a:latin typeface="Tahom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37744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92934"/>
                </a:solidFill>
                <a:latin typeface="Tahoma"/>
              </a:rPr>
              <a:t>Emerging Tephritidae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3774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2934"/>
                </a:solidFill>
                <a:latin typeface="Tahoma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3774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2934"/>
                </a:solidFill>
                <a:latin typeface="Tahom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3774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2934"/>
                </a:solidFill>
                <a:latin typeface="Tahoma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92608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Tahoma"/>
              </a:rPr>
              <a:t>Spotted Lanternfly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9260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2934"/>
                </a:solidFill>
                <a:latin typeface="Tahoma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9260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2934"/>
                </a:solidFill>
                <a:latin typeface="Tahoma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9260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2934"/>
                </a:solidFill>
                <a:latin typeface="Tahom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47472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Tahoma"/>
              </a:rPr>
              <a:t>Khapra Beetle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474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2934"/>
                </a:solidFill>
                <a:latin typeface="Tahoma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474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2934"/>
                </a:solidFill>
                <a:latin typeface="Tahoma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3474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2934"/>
                </a:solidFill>
                <a:latin typeface="Tahoma"/>
              </a:rPr>
              <a:t>✓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37760" y="3438144"/>
            <a:ext cx="347472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937760" y="4754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Tahoma"/>
              </a:rPr>
              <a:t>Framework generalizes to any species × any pathway × any season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595959"/>
                </a:solidFill>
                <a:latin typeface="Tahoma"/>
              </a:rPr>
              <a:t>Emerging species logic from data/exports/PHASE_STATUS_LIVE.md and MODEL_BAKEOFF_REPORT.md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292934"/>
                </a:solidFill>
                <a:latin typeface="Tahoma"/>
              </a:rPr>
              <a:t>From Hackathon Prototype to Operational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If PPQ followed HIGH-tier list</a:t>
            </a:r>
            <a:r>
              <a:rPr sz="1700" b="0">
                <a:solidFill>
                  <a:srgbClr val="292934"/>
                </a:solidFill>
                <a:latin typeface="Tahoma"/>
              </a:rPr>
              <a:t> — covers 60.8% of detection signal with top 20% of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3852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25 surveillance gap routes</a:t>
            </a:r>
            <a:r>
              <a:rPr sz="1700" b="0">
                <a:solidFill>
                  <a:srgbClr val="292934"/>
                </a:solidFill>
                <a:latin typeface="Tahoma"/>
              </a:rPr>
              <a:t> — HIGH-risk pathways with zero nearby detections; candidate trap 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9689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AWS production scaffold ready</a:t>
            </a:r>
            <a:r>
              <a:rPr sz="1700" b="0">
                <a:solidFill>
                  <a:srgbClr val="292934"/>
                </a:solidFill>
                <a:latin typeface="Tahoma"/>
              </a:rPr>
              <a:t> — Step Functions + Athena + Lambda + QuickSight assets generated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5526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Tahoma"/>
              </a:rPr>
              <a:t>Monthly refresh in 30 seconds</a:t>
            </a:r>
            <a:r>
              <a:rPr sz="1700" b="0">
                <a:solidFill>
                  <a:srgbClr val="292934"/>
                </a:solidFill>
                <a:latin typeface="Tahoma"/>
              </a:rPr>
              <a:t> — swap data/raw/ CSVs → python main.py all → redeploy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32588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Problem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32588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2934"/>
                </a:solidFill>
                <a:latin typeface="Tahoma"/>
              </a:rPr>
              <a:t>✓ 10/10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37760" y="1609344"/>
            <a:ext cx="347472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37760" y="176479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Geospatial Rigor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7647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2934"/>
                </a:solidFill>
                <a:latin typeface="Tahoma"/>
              </a:rPr>
              <a:t>✓ 12/12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37760" y="2048255"/>
            <a:ext cx="347472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937760" y="2203704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Risk &amp; Predictive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203704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2934"/>
                </a:solidFill>
                <a:latin typeface="Tahoma"/>
              </a:rPr>
              <a:t>✓ 12/12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37760" y="2487168"/>
            <a:ext cx="347472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37760" y="2642615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Data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642615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2934"/>
                </a:solidFill>
                <a:latin typeface="Tahoma"/>
              </a:rPr>
              <a:t>✓ 9/10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7760" y="2926079"/>
            <a:ext cx="347472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937760" y="3081528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Tool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08152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2934"/>
                </a:solidFill>
                <a:latin typeface="Tahoma"/>
              </a:rPr>
              <a:t>✓ 10/10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37760" y="3364992"/>
            <a:ext cx="347472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37760" y="3520439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Visualization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520439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2934"/>
                </a:solidFill>
                <a:latin typeface="Tahoma"/>
              </a:rPr>
              <a:t>✓ 9/10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37760" y="3803903"/>
            <a:ext cx="347472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37760" y="395935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Innovation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95935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2934"/>
                </a:solidFill>
                <a:latin typeface="Tahoma"/>
              </a:rPr>
              <a:t>✓ 10/10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37760" y="4242816"/>
            <a:ext cx="3474720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937760" y="4398264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Tahoma"/>
              </a:rPr>
              <a:t>Overall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398264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2934"/>
                </a:solidFill>
                <a:latin typeface="Tahoma"/>
              </a:rPr>
              <a:t>✓ 10/10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760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95959"/>
                </a:solidFill>
                <a:latin typeface="Tahoma"/>
              </a:rPr>
              <a:t>Inspectors don't need more data. They need better signal.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595959"/>
                </a:solidFill>
                <a:latin typeface="Tahoma"/>
              </a:rPr>
              <a:t>Impact metrics from README.md and data/exports/VALIDATION_REPORT.md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