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95959"/>
                </a:solidFill>
                <a:latin typeface="Tahoma"/>
              </a:rPr>
              <a:t>Q&amp;A REFERENCE  · 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92934"/>
                </a:solidFill>
                <a:latin typeface="Tahoma"/>
              </a:rPr>
              <a:t>Why Mexico Routes Rank Highest — and Why That's Correct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0" y="822960"/>
            <a:ext cx="7315" cy="5486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Fly overlap score 0.92</a:t>
            </a:r>
            <a:r>
              <a:rPr b="0" sz="1300">
                <a:solidFill>
                  <a:srgbClr val="3C3C3C"/>
                </a:solidFill>
                <a:latin typeface="Tahoma"/>
              </a:rPr>
              <a:t> — highest in dataset; Anastrepha ludens, A. obliqua, and Ceratitis capitata all simultaneously present and active in Mexico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LAX cargo volume</a:t>
            </a:r>
            <a:r>
              <a:rPr b="0" sz="1300">
                <a:solidFill>
                  <a:srgbClr val="3C3C3C"/>
                </a:solidFill>
                <a:latin typeface="Tahoma"/>
              </a:rPr>
              <a:t> — Mexico is the #1 source of US fresh fruit imports; LAX receives the highest US–Mexico cargo volume of any port in the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Peak season alignment</a:t>
            </a:r>
            <a:r>
              <a:rPr b="0" sz="1300">
                <a:solidFill>
                  <a:srgbClr val="3C3C3C"/>
                </a:solidFill>
                <a:latin typeface="Tahoma"/>
              </a:rPr>
              <a:t> — August seasonal multiplier is 1.50×; Mexico's summer harvest coincides with peak fly emergence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Diversity toggle built in</a:t>
            </a:r>
            <a:r>
              <a:rPr b="0" sz="1300">
                <a:solidFill>
                  <a:srgbClr val="3C3C3C"/>
                </a:solidFill>
                <a:latin typeface="Tahoma"/>
              </a:rPr>
              <a:t> — click ★ Diverse in the dashboard to force one route per origin country and surface THA, COL, GTM, VNM pathways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03520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413248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Tahoma"/>
              </a:rPr>
              <a:t>The 10-point gap between Mexico (96.9) and Thailand (86.8) is legitimate. Suppressing it would misrepresent the actual risk.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914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  <a:latin typeface="Tahoma"/>
              </a:rPr>
              <a:t>Country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914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  <a:latin typeface="Tahoma"/>
              </a:rPr>
              <a:t>Fly Overlap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914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  <a:latin typeface="Tahoma"/>
              </a:rPr>
              <a:t>Max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914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  <a:latin typeface="Tahoma"/>
              </a:rPr>
              <a:t>HIGH Routes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234440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MEX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3716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0.92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3716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96.9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13716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174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691640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7556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THA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17556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0.88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17556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86.8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7556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48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075688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1396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GTM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1396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0.88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1396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85.4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1396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33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459736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5237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PHL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25237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0.85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5237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84.8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25237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53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843784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290779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VNM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290779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0.82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290779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83.1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90779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19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227832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COL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0.82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82.5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49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611879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67588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SLV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367588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0.83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367588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82.2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367588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995927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05993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BRA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405993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0.80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405993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76.6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405993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4379975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Tahoma"/>
              </a:rPr>
              <a:t>Source: data/exports/country_rollup.csv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95959"/>
                </a:solidFill>
                <a:latin typeface="Tahoma"/>
              </a:rPr>
              <a:t>Q&amp;A REFERENCE  · 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92934"/>
                </a:solidFill>
                <a:latin typeface="Tahoma"/>
              </a:rPr>
              <a:t>How We Validated — and What the Caveats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0" y="822960"/>
            <a:ext cx="7315" cy="5486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In-sample alignment</a:t>
            </a:r>
            <a:r>
              <a:rPr b="0" sz="1300">
                <a:solidFill>
                  <a:srgbClr val="3C3C3C"/>
                </a:solidFill>
                <a:latin typeface="Tahoma"/>
              </a:rPr>
              <a:t> — Pearson r 0.762, Precision@10 100%, HIGH/LOW lift 9.01×; trained and tested on same detection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Temporal holdout</a:t>
            </a:r>
            <a:r>
              <a:rPr b="0" sz="1300">
                <a:solidFill>
                  <a:srgbClr val="3C3C3C"/>
                </a:solidFill>
                <a:latin typeface="Tahoma"/>
              </a:rPr>
              <a:t> — trained on detections ≤2022, tested on ≥2023; Pearson r 0.606, Precision@10 90%; model generalizes to future data it never saw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Leakage sensitivity check</a:t>
            </a:r>
            <a:r>
              <a:rPr b="0" sz="1300">
                <a:solidFill>
                  <a:srgbClr val="3C3C3C"/>
                </a:solidFill>
                <a:latin typeface="Tahoma"/>
              </a:rPr>
              <a:t> — removing detection proximity (10% weight) drops Pearson r to 0.317 but Precision@10 stays 100%; biology and volume carry the signal independently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Surveillance bias disclosed</a:t>
            </a:r>
            <a:r>
              <a:rPr b="0" sz="1300">
                <a:solidFill>
                  <a:srgbClr val="3C3C3C"/>
                </a:solidFill>
                <a:latin typeface="Tahoma"/>
              </a:rPr>
              <a:t> — detections reflect where inspectors trapped, not where flies arrived; HIGH-risk routes with zero detections = candidate trap expansion 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05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92934"/>
                </a:solidFill>
                <a:latin typeface="Tahoma"/>
              </a:rPr>
              <a:t>0.762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Pearson r · in-sample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005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00000"/>
                </a:solidFill>
                <a:latin typeface="Tahoma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417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Precision@10 · in-sample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92934"/>
                </a:solidFill>
                <a:latin typeface="Tahoma"/>
              </a:rPr>
              <a:t>0.606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632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Pearson r · holdout 2023+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51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92934"/>
                </a:solidFill>
                <a:latin typeface="Tahoma"/>
              </a:rP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0632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Precision@10 · holdout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377440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914400"/>
            <a:ext cx="7315" cy="3200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Tahoma"/>
              </a:rPr>
              <a:t>Full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Tahoma"/>
              </a:rPr>
              <a:t>No-detection variant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663440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800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Pearson r: 0.762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800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Pearson r: 0.317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20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P@10: 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120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P@10: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440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Top-10 overlap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440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50% shared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95959"/>
                </a:solidFill>
                <a:latin typeface="Tahoma"/>
              </a:rPr>
              <a:t>Q&amp;A REFERENCE  · 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92934"/>
                </a:solidFill>
                <a:latin typeface="Tahoma"/>
              </a:rPr>
              <a:t>Risk Score Formula — Every Weight Documented and Tested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0" y="822960"/>
            <a:ext cx="7315" cy="5486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Structural risk score</a:t>
            </a:r>
            <a:r>
              <a:rPr b="0" sz="1300">
                <a:solidFill>
                  <a:srgbClr val="3C3C3C"/>
                </a:solidFill>
                <a:latin typeface="Tahoma"/>
              </a:rPr>
              <a:t> — long-term pathway risk; stable month to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92934"/>
                </a:solidFill>
                <a:latin typeface="Courier New"/>
              </a:rPr>
              <a:t>structural = 100 × (</a:t>
            </a:r>
          </a:p>
          <a:p>
            <a:pPr algn="l"/>
            <a:r>
              <a:rPr sz="1200" b="0" i="0">
                <a:solidFill>
                  <a:srgbClr val="292934"/>
                </a:solidFill>
                <a:latin typeface="Courier New"/>
              </a:rPr>
              <a:t>  0.35 × fly_overlap</a:t>
            </a:r>
          </a:p>
          <a:p>
            <a:pPr algn="l"/>
            <a:r>
              <a:rPr sz="1200" b="0" i="0">
                <a:solidFill>
                  <a:srgbClr val="292934"/>
                </a:solidFill>
                <a:latin typeface="Courier New"/>
              </a:rPr>
              <a:t>  + 0.25 × volume_score</a:t>
            </a:r>
          </a:p>
          <a:p>
            <a:pPr algn="l"/>
            <a:r>
              <a:rPr sz="1200" b="0" i="0">
                <a:solidFill>
                  <a:srgbClr val="292934"/>
                </a:solidFill>
                <a:latin typeface="Courier New"/>
              </a:rPr>
              <a:t>  + 0.20 × host_fraction</a:t>
            </a:r>
          </a:p>
          <a:p>
            <a:pPr algn="l"/>
            <a:r>
              <a:rPr sz="1200" b="0" i="0">
                <a:solidFill>
                  <a:srgbClr val="292934"/>
                </a:solidFill>
                <a:latin typeface="Courier New"/>
              </a:rPr>
              <a:t>  + 0.10 × route_frequency</a:t>
            </a:r>
          </a:p>
          <a:p>
            <a:pPr algn="l"/>
            <a:r>
              <a:rPr sz="1200" b="0" i="0">
                <a:solidFill>
                  <a:srgbClr val="292934"/>
                </a:solidFill>
                <a:latin typeface="Courier New"/>
              </a:rPr>
              <a:t>  + 0.10 × detection_proximity</a:t>
            </a:r>
          </a:p>
          <a:p>
            <a:pPr algn="l"/>
            <a:r>
              <a:rPr sz="1200" b="0" i="0">
                <a:solidFill>
                  <a:srgbClr val="292934"/>
                </a:solidFill>
                <a:latin typeface="Courier New"/>
              </a:rPr>
              <a:t>) / 0.90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Operational surge modifier</a:t>
            </a:r>
            <a:r>
              <a:rPr b="0" sz="1300">
                <a:solidFill>
                  <a:srgbClr val="3C3C3C"/>
                </a:solidFill>
                <a:latin typeface="Tahoma"/>
              </a:rPr>
              <a:t> — near-term tactical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92934"/>
                </a:solidFill>
                <a:latin typeface="Courier New"/>
              </a:rPr>
              <a:t>surge = 0.85 + 0.30 × (</a:t>
            </a:r>
          </a:p>
          <a:p>
            <a:pPr algn="l"/>
            <a:r>
              <a:rPr sz="1200" b="0" i="0">
                <a:solidFill>
                  <a:srgbClr val="292934"/>
                </a:solidFill>
                <a:latin typeface="Courier New"/>
              </a:rPr>
              <a:t>  0.55 × recent_detection_pressure</a:t>
            </a:r>
          </a:p>
          <a:p>
            <a:pPr algn="l"/>
            <a:r>
              <a:rPr sz="1200" b="0" i="0">
                <a:solidFill>
                  <a:srgbClr val="292934"/>
                </a:solidFill>
                <a:latin typeface="Courier New"/>
              </a:rPr>
              <a:t>  + 0.20 × seasonality</a:t>
            </a:r>
          </a:p>
          <a:p>
            <a:pPr algn="l"/>
            <a:r>
              <a:rPr sz="1200" b="0" i="0">
                <a:solidFill>
                  <a:srgbClr val="292934"/>
                </a:solidFill>
                <a:latin typeface="Courier New"/>
              </a:rPr>
              <a:t>  + 0.25 × port_alert</a:t>
            </a:r>
          </a:p>
          <a:p>
            <a:pPr algn="l"/>
            <a:r>
              <a:rPr sz="1200" b="0" i="0">
                <a:solidFill>
                  <a:srgbClr val="292934"/>
                </a:solidFill>
                <a:latin typeface="Courier New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Final score</a:t>
            </a:r>
            <a:r>
              <a:rPr b="0" sz="1300">
                <a:solidFill>
                  <a:srgbClr val="3C3C3C"/>
                </a:solidFill>
                <a:latin typeface="Tahoma"/>
              </a:rPr>
              <a:t> — normalized to prevent ceiling collapse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92934"/>
                </a:solidFill>
                <a:latin typeface="Courier New"/>
              </a:rPr>
              <a:t>risk_score = 100 × structural × (surge / 1.15)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Tahoma"/>
              </a:rPr>
              <a:t>Weights sum to 1.0 · enforced in 77 passing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896112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Fly–host co-occurrence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89611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Tahoma"/>
              </a:rPr>
              <a:t>35%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097280"/>
            <a:ext cx="1764792" cy="201168"/>
          </a:xfrm>
          <a:prstGeom prst="rect">
            <a:avLst/>
          </a:prstGeom>
          <a:solidFill>
            <a:srgbClr val="D2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81912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Volume /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158191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Tahoma"/>
              </a:rPr>
              <a:t>25%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783080"/>
            <a:ext cx="1261872" cy="201168"/>
          </a:xfrm>
          <a:prstGeom prst="rect">
            <a:avLst/>
          </a:prstGeom>
          <a:solidFill>
            <a:srgbClr val="50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267712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Host commodity fraction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226771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Tahoma"/>
              </a:rPr>
              <a:t>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468880"/>
            <a:ext cx="1005840" cy="201168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953512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Route frequency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295351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Tahoma"/>
              </a:rPr>
              <a:t>10%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154680"/>
            <a:ext cx="502920" cy="201168"/>
          </a:xfrm>
          <a:prstGeom prst="rect">
            <a:avLst/>
          </a:prstGeom>
          <a:solidFill>
            <a:srgbClr val="82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639312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Detection proximity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363931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Tahoma"/>
              </a:rPr>
              <a:t>10%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840480"/>
            <a:ext cx="502920" cy="201168"/>
          </a:xfrm>
          <a:prstGeom prst="rect">
            <a:avLst/>
          </a:prstGeom>
          <a:solidFill>
            <a:srgbClr val="82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754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Seasonal multiplier: 0.85 (winter) → 1.50 (peak summer)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0749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Southern hemisphere origins: 6-month phase shift applied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3949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Tahoma"/>
              </a:rPr>
              <a:t>Toggle TIER_MODE in phase2_risk_scoring.py for absolute thresholds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95959"/>
                </a:solidFill>
                <a:latin typeface="Tahoma"/>
              </a:rPr>
              <a:t>Q&amp;A REFERENCE  · 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92934"/>
                </a:solidFill>
                <a:latin typeface="Tahoma"/>
              </a:rPr>
              <a:t>Five Sources Integrated — Two Gaps Acknowledged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0" y="822960"/>
            <a:ext cx="7315" cy="5486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BTS T-100 International Segment</a:t>
            </a:r>
            <a:r>
              <a:rPr b="0" sz="1300">
                <a:solidFill>
                  <a:srgbClr val="3C3C3C"/>
                </a:solidFill>
                <a:latin typeface="Tahoma"/>
              </a:rPr>
              <a:t> — monthly flight-level passenger counts by country × US airport; public domain; transtats.bts.gov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US Census FATUS</a:t>
            </a:r>
            <a:r>
              <a:rPr b="0" sz="1300">
                <a:solidFill>
                  <a:srgbClr val="3C3C3C"/>
                </a:solidFill>
                <a:latin typeface="Tahoma"/>
              </a:rPr>
              <a:t> — monthly cargo by country × commodity × port; HS-6 detail; public domain; usatrade.census.gov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14016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GBIF Tephritidae</a:t>
            </a:r>
            <a:r>
              <a:rPr b="0" sz="1300">
                <a:solidFill>
                  <a:srgbClr val="3C3C3C"/>
                </a:solidFill>
                <a:latin typeface="Tahoma"/>
              </a:rPr>
              <a:t> — species occurrence by country for 13 regulated species; CC-BY 4.0; pipeline degrades gracefully if API unavailable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63824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APHIS detection feature layer</a:t>
            </a:r>
            <a:r>
              <a:rPr b="0" sz="1300">
                <a:solidFill>
                  <a:srgbClr val="3C3C3C"/>
                </a:solidFill>
                <a:latin typeface="Tahoma"/>
              </a:rPr>
              <a:t> — 5-year catch records; ground truth for validation; provided at hackathon kickoff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1363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APHIS host commodity list</a:t>
            </a:r>
            <a:r>
              <a:rPr b="0" sz="1300">
                <a:solidFill>
                  <a:srgbClr val="3C3C3C"/>
                </a:solidFill>
                <a:latin typeface="Tahoma"/>
              </a:rPr>
              <a:t> — HS code → host flag mapping; encoded from APHIS PPQ regulatory documents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29200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1389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Express courier — not modeled</a:t>
            </a:r>
            <a:r>
              <a:rPr b="0" sz="1300">
                <a:solidFill>
                  <a:srgbClr val="3C3C3C"/>
                </a:solidFill>
                <a:latin typeface="Tahoma"/>
              </a:rPr>
              <a:t> — no credible public volume data; schema accepts it as transport_mode when data becomes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412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USPS mail — not modeled</a:t>
            </a:r>
            <a:r>
              <a:rPr b="0" sz="1300">
                <a:solidFill>
                  <a:srgbClr val="3C3C3C"/>
                </a:solidFill>
                <a:latin typeface="Tahoma"/>
              </a:rPr>
              <a:t> — same reason; acknowledged in dashboard; not fabricated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  <a:latin typeface="Tahoma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  <a:latin typeface="Tahoma"/>
              </a:rPr>
              <a:t>Relevance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914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  <a:latin typeface="Tahoma"/>
              </a:rPr>
              <a:t>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188720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325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BTS T-100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325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High — route passengers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1325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Public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609344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76479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FATUS / Census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7647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High — agricultural imports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17647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Public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048255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20370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GBIF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20370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High — species presence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220370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CC-BY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87168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64261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APHIS detections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64261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High — ground truth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264261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Hackathon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926080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0815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Host commodity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08152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High — host flagging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30815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Tahoma"/>
              </a:rPr>
              <a:t>Public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364992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520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28282"/>
                </a:solidFill>
                <a:latin typeface="Tahoma"/>
              </a:rPr>
              <a:t>Express courier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520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28282"/>
                </a:solidFill>
                <a:latin typeface="Tahoma"/>
              </a:rPr>
              <a:t>Gap — no public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35204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28282"/>
                </a:solidFill>
                <a:latin typeface="Tahoma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803904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9593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28282"/>
                </a:solidFill>
                <a:latin typeface="Tahoma"/>
              </a:rPr>
              <a:t>USPS mail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95935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28282"/>
                </a:solidFill>
                <a:latin typeface="Tahoma"/>
              </a:rPr>
              <a:t>Gap — no public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3959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28282"/>
                </a:solidFill>
                <a:latin typeface="Tahoma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242816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303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Tahoma"/>
              </a:rPr>
              <a:t>Live data swap: drop CSVs in data/raw/ → python main.py all → redeploy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95959"/>
                </a:solidFill>
                <a:latin typeface="Tahoma"/>
              </a:rPr>
              <a:t>Q&amp;A REFERENCE  ·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92934"/>
                </a:solidFill>
                <a:latin typeface="Tahoma"/>
              </a:rPr>
              <a:t>Production-Ready Architecture — Already Scaffolded in the Repo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0" y="822960"/>
            <a:ext cx="7315" cy="5486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AWS S3</a:t>
            </a:r>
            <a:r>
              <a:rPr b="0" sz="1300">
                <a:solidFill>
                  <a:srgbClr val="3C3C3C"/>
                </a:solidFill>
                <a:latin typeface="Tahoma"/>
              </a:rPr>
              <a:t> — static dashboard hosting; GeoJSON layers; CSV exports; content-typed uploads; raw source upload opt-in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AWS Step Functions</a:t>
            </a:r>
            <a:r>
              <a:rPr b="0" sz="1300">
                <a:solidFill>
                  <a:srgbClr val="3C3C3C"/>
                </a:solidFill>
                <a:latin typeface="Tahoma"/>
              </a:rPr>
              <a:t> — monthly pipeline orchestration scaffold generated; EventBridge trigger; state machine JSON in infra/aws/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AWS Athena</a:t>
            </a:r>
            <a:r>
              <a:rPr b="0" sz="1300">
                <a:solidFill>
                  <a:srgbClr val="3C3C3C"/>
                </a:solidFill>
                <a:latin typeface="Tahoma"/>
              </a:rPr>
              <a:t> — named queries for port rollup, seasonal analysis, top routes; external tables over S3 CSVs; no ETL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54096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AWS Lambda</a:t>
            </a:r>
            <a:r>
              <a:rPr b="0" sz="1300">
                <a:solidFill>
                  <a:srgbClr val="3C3C3C"/>
                </a:solidFill>
                <a:latin typeface="Tahoma"/>
              </a:rPr>
              <a:t> — validator function for schema checks; Bedrock narrator for natural language summaries; stubs in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6732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ArcGIS Online</a:t>
            </a:r>
            <a:r>
              <a:rPr b="0" sz="1300">
                <a:solidFill>
                  <a:srgbClr val="3C3C3C"/>
                </a:solidFill>
                <a:latin typeface="Tahoma"/>
              </a:rPr>
              <a:t> — 4 hosted feature layers published; Dashboard and StoryMap live; overwrite-by-title prevents duplicate sprawl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SageMaker-compatible</a:t>
            </a:r>
            <a:r>
              <a:rPr b="0" sz="1300">
                <a:solidFill>
                  <a:srgbClr val="3C3C3C"/>
                </a:solidFill>
                <a:latin typeface="Tahoma"/>
              </a:rPr>
              <a:t> — model bake-off outputs in CSV format; champion/challenger framework ready for automated promotion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05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2934"/>
                </a:solidFill>
                <a:latin typeface="Tahoma"/>
              </a:rPr>
              <a:t>EventBridge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1st of month trigger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554480"/>
            <a:ext cx="7315" cy="27432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2934"/>
                </a:solidFill>
                <a:latin typeface="Tahoma"/>
              </a:rPr>
              <a:t>Step Functions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Orchestrate phases 1–4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468880"/>
            <a:ext cx="7315" cy="27432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2934"/>
                </a:solidFill>
                <a:latin typeface="Tahoma"/>
              </a:rPr>
              <a:t>Athena + 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08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Query and store scored routes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3383280"/>
            <a:ext cx="7315" cy="2286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3611880"/>
            <a:ext cx="155448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3611880"/>
            <a:ext cx="11887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2934"/>
                </a:solidFill>
                <a:latin typeface="Tahoma"/>
              </a:rPr>
              <a:t>ArcGIS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050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GeoJSON layers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2934"/>
                </a:solidFill>
                <a:latin typeface="Tahoma"/>
              </a:rPr>
              <a:t>S3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0050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Static HTML cockpit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029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Tahoma"/>
              </a:rPr>
              <a:t>Lambda: schema validation + Bedrock narrative 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5778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ourier New"/>
              </a:rPr>
              <a:t>python main.py aws_prod scaffold --bucket &lt;name&gt;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95959"/>
                </a:solidFill>
                <a:latin typeface="Tahoma"/>
              </a:rPr>
              <a:t>Q&amp;A REFERENCE  · 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92934"/>
                </a:solidFill>
                <a:latin typeface="Tahoma"/>
              </a:rPr>
              <a:t>Three Steps from Hackathon Prototype to Operational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0" y="822960"/>
            <a:ext cx="7315" cy="5486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Step 1 — Live data contracts</a:t>
            </a:r>
            <a:r>
              <a:rPr b="0" sz="1300">
                <a:solidFill>
                  <a:srgbClr val="3C3C3C"/>
                </a:solidFill>
                <a:latin typeface="Tahoma"/>
              </a:rPr>
              <a:t> — replace sample CSVs with automated monthly pulls from BTS API and Census FTP; estimated effort: 2 weeks with APHIS data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Step 2 — IAM and security hardening</a:t>
            </a:r>
            <a:r>
              <a:rPr b="0" sz="1300">
                <a:solidFill>
                  <a:srgbClr val="3C3C3C"/>
                </a:solidFill>
                <a:latin typeface="Tahoma"/>
              </a:rPr>
              <a:t> — production AWS account with least-privilege roles; Secrets Manager; VPC for Lambda; estimated effort: 1 week with cloud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Step 3 — PPQ entomologist review</a:t>
            </a:r>
            <a:r>
              <a:rPr b="0" sz="1300">
                <a:solidFill>
                  <a:srgbClr val="3C3C3C"/>
                </a:solidFill>
                <a:latin typeface="Tahoma"/>
              </a:rPr>
              <a:t> — validate formula weights against expert judgment; adjust fly overlap scores with live GBIF; champion/challenger promotion policy; estimated effort: 2–4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754880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8920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0000"/>
                </a:solidFill>
                <a:latin typeface="Tahoma"/>
              </a:rPr>
              <a:t>What's already done</a:t>
            </a:r>
            <a:r>
              <a:rPr b="0" sz="1300">
                <a:solidFill>
                  <a:srgbClr val="3C3C3C"/>
                </a:solidFill>
                <a:latin typeface="Tahoma"/>
              </a:rPr>
              <a:t> — deterministic pipeline, 77 tests, AWS scaffold generated, ArcGIS layers live, monthly refresh in 30 seconds, documentation complete, methodology published with caveats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05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Tahoma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005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2934"/>
                </a:solidFill>
                <a:latin typeface="Tahoma"/>
              </a:rPr>
              <a:t>Hackathon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41732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Pipeline · Dashboard · Validation · AWS scaffold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92934"/>
                </a:solidFill>
                <a:latin typeface="Tahoma"/>
              </a:rPr>
              <a:t>MONTH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2934"/>
                </a:solidFill>
                <a:latin typeface="Tahoma"/>
              </a:rPr>
              <a:t>Data contracts +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606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Live BTS/FATUS · IAM hardening · Automated refresh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200400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92934"/>
                </a:solidFill>
                <a:latin typeface="Tahoma"/>
              </a:rPr>
              <a:t>MONTH 2–3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383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2934"/>
                </a:solidFill>
                <a:latin typeface="Tahoma"/>
              </a:rPr>
              <a:t>PPQ validation +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7947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Expert weight review · Champion/challenger · Production SLAs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389120"/>
            <a:ext cx="5303520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Tahoma"/>
              </a:rPr>
              <a:t>The architecture is production-aligned. The gap is data contracts
and security hardening — not a rebuild.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